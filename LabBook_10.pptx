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56" r:id="rId2"/>
    <p:sldId id="295" r:id="rId3"/>
    <p:sldId id="290" r:id="rId4"/>
    <p:sldId id="298" r:id="rId5"/>
    <p:sldId id="299" r:id="rId6"/>
    <p:sldId id="300" r:id="rId7"/>
    <p:sldId id="301" r:id="rId8"/>
    <p:sldId id="302" r:id="rId9"/>
    <p:sldId id="303" r:id="rId10"/>
    <p:sldId id="304" r:id="rId11"/>
    <p:sldId id="291" r:id="rId12"/>
    <p:sldId id="305" r:id="rId13"/>
    <p:sldId id="292" r:id="rId14"/>
    <p:sldId id="297" r:id="rId15"/>
    <p:sldId id="306" r:id="rId16"/>
    <p:sldId id="293" r:id="rId17"/>
    <p:sldId id="307" r:id="rId18"/>
    <p:sldId id="308" r:id="rId19"/>
    <p:sldId id="309" r:id="rId20"/>
    <p:sldId id="288" r:id="rId21"/>
  </p:sldIdLst>
  <p:sldSz cx="12192000" cy="6858000"/>
  <p:notesSz cx="10234613" cy="70993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740512-EB22-4221-9306-49FD613E433C}" v="6" dt="2026-03-12T07:05:49.35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70" d="100"/>
          <a:sy n="70" d="100"/>
        </p:scale>
        <p:origin x="1086" y="60"/>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ran Guiñón Tatay" userId="37d2ecda-816d-4261-bc79-0587efc98f9b" providerId="ADAL" clId="{8EB607FD-4D7B-43F8-AEE9-47E9B53AF075}"/>
    <pc:docChg chg="modSld">
      <pc:chgData name="Ferran Guiñón Tatay" userId="37d2ecda-816d-4261-bc79-0587efc98f9b" providerId="ADAL" clId="{8EB607FD-4D7B-43F8-AEE9-47E9B53AF075}" dt="2026-03-12T07:05:49.356" v="66"/>
      <pc:docMkLst>
        <pc:docMk/>
      </pc:docMkLst>
      <pc:sldChg chg="modSp mod">
        <pc:chgData name="Ferran Guiñón Tatay" userId="37d2ecda-816d-4261-bc79-0587efc98f9b" providerId="ADAL" clId="{8EB607FD-4D7B-43F8-AEE9-47E9B53AF075}" dt="2026-03-12T07:05:49.356" v="66"/>
        <pc:sldMkLst>
          <pc:docMk/>
          <pc:sldMk cId="236054401" sldId="297"/>
        </pc:sldMkLst>
        <pc:graphicFrameChg chg="mod modGraphic">
          <ac:chgData name="Ferran Guiñón Tatay" userId="37d2ecda-816d-4261-bc79-0587efc98f9b" providerId="ADAL" clId="{8EB607FD-4D7B-43F8-AEE9-47E9B53AF075}" dt="2026-03-12T07:05:49.356" v="66"/>
          <ac:graphicFrameMkLst>
            <pc:docMk/>
            <pc:sldMk cId="236054401" sldId="297"/>
            <ac:graphicFrameMk id="4" creationId="{512D461D-7FBA-EB5B-1467-5BA1E3A9FB6F}"/>
          </ac:graphicFrameMkLst>
        </pc:graphicFrameChg>
      </pc:sldChg>
      <pc:sldChg chg="modSp mod">
        <pc:chgData name="Ferran Guiñón Tatay" userId="37d2ecda-816d-4261-bc79-0587efc98f9b" providerId="ADAL" clId="{8EB607FD-4D7B-43F8-AEE9-47E9B53AF075}" dt="2026-03-12T07:03:45.146" v="32" actId="20577"/>
        <pc:sldMkLst>
          <pc:docMk/>
          <pc:sldMk cId="199923816" sldId="306"/>
        </pc:sldMkLst>
        <pc:spChg chg="mod">
          <ac:chgData name="Ferran Guiñón Tatay" userId="37d2ecda-816d-4261-bc79-0587efc98f9b" providerId="ADAL" clId="{8EB607FD-4D7B-43F8-AEE9-47E9B53AF075}" dt="2026-03-12T07:03:45.146" v="32" actId="20577"/>
          <ac:spMkLst>
            <pc:docMk/>
            <pc:sldMk cId="199923816" sldId="306"/>
            <ac:spMk id="16" creationId="{8001A2BC-A2D6-2B41-1C86-46324B86A405}"/>
          </ac:spMkLst>
        </pc:spChg>
        <pc:picChg chg="mod">
          <ac:chgData name="Ferran Guiñón Tatay" userId="37d2ecda-816d-4261-bc79-0587efc98f9b" providerId="ADAL" clId="{8EB607FD-4D7B-43F8-AEE9-47E9B53AF075}" dt="2026-03-12T07:03:30.844" v="12" actId="1076"/>
          <ac:picMkLst>
            <pc:docMk/>
            <pc:sldMk cId="199923816" sldId="306"/>
            <ac:picMk id="12" creationId="{42AB13DB-75B7-5F44-2124-BF68121E72C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4434999" cy="356609"/>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5796949" y="0"/>
            <a:ext cx="4434999" cy="356609"/>
          </a:xfrm>
          <a:prstGeom prst="rect">
            <a:avLst/>
          </a:prstGeom>
        </p:spPr>
        <p:txBody>
          <a:bodyPr vert="horz" lIns="91440" tIns="45720" rIns="91440" bIns="45720" rtlCol="0"/>
          <a:lstStyle>
            <a:lvl1pPr algn="r">
              <a:defRPr sz="1200"/>
            </a:lvl1pPr>
          </a:lstStyle>
          <a:p>
            <a:fld id="{8438F8DC-35B0-48E6-A86E-42F1F08DD00F}" type="datetimeFigureOut">
              <a:rPr lang="es-ES" smtClean="0"/>
              <a:t>14/03/2026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742693"/>
            <a:ext cx="4434999" cy="356608"/>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5796949" y="6742693"/>
            <a:ext cx="4434999" cy="356608"/>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434999" cy="356609"/>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5796949" y="0"/>
            <a:ext cx="4434999" cy="356609"/>
          </a:xfrm>
          <a:prstGeom prst="rect">
            <a:avLst/>
          </a:prstGeom>
        </p:spPr>
        <p:txBody>
          <a:bodyPr vert="horz" lIns="91440" tIns="45720" rIns="91440" bIns="45720" rtlCol="0"/>
          <a:lstStyle>
            <a:lvl1pPr algn="r">
              <a:defRPr sz="1200"/>
            </a:lvl1pPr>
          </a:lstStyle>
          <a:p>
            <a:fld id="{FACBDC12-F39B-4B97-8F4D-6734F9D366FF}" type="datetimeFigureOut">
              <a:rPr lang="es-ES" smtClean="0"/>
              <a:t>14/03/2026</a:t>
            </a:fld>
            <a:endParaRPr lang="es-ES"/>
          </a:p>
        </p:txBody>
      </p:sp>
      <p:sp>
        <p:nvSpPr>
          <p:cNvPr id="4" name="Marcador de imagen de diapositiva 3"/>
          <p:cNvSpPr>
            <a:spLocks noGrp="1" noRot="1" noChangeAspect="1"/>
          </p:cNvSpPr>
          <p:nvPr>
            <p:ph type="sldImg" idx="2"/>
          </p:nvPr>
        </p:nvSpPr>
        <p:spPr>
          <a:xfrm>
            <a:off x="2989263" y="887413"/>
            <a:ext cx="4256087" cy="2395537"/>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023462" y="3416539"/>
            <a:ext cx="8187690" cy="2795349"/>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742693"/>
            <a:ext cx="4434999" cy="356608"/>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5796949" y="6742693"/>
            <a:ext cx="4434999" cy="356608"/>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FBACD-D727-22D5-7588-280E36EEA8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071A0E7-C347-9A4E-55EF-0FA7572BB7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5AA37D-945B-09D5-6AA1-AA360CE9A5A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F9DD2DE-D4F8-8A11-6865-2A7E3B18836B}"/>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692792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F17C-6C64-F19A-C62E-A41DFDA170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08952C-C1D0-7490-9ACC-2B8697B10D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D68E81-1061-9047-25D4-753A327CEED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8C73E8E-4532-F8B7-B38E-8F5CDB2AE9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95205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E70C4-50D6-1F87-2513-3CEB12D68C6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7648B5-4203-57D2-D55B-B133651FC7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B97D5A-D603-AF73-799D-7FF18E4B4BF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16BF40E-5F77-BCD1-F129-3843BB63DA4A}"/>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960372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C968-10DE-838E-303F-8BA59EAA3B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515836-30D0-52F0-0A5E-AE1D2E5B8A4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1D6296-DC2B-096B-683F-12D318C3053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FB43A1F-0456-7BC3-D502-781FC209ACBC}"/>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733137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DD997-0F81-8CBB-3077-8D8956B8B9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D8B7E9-E1A5-769C-7173-B94D00C25B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F24C24-F656-935E-3C98-C0ABAD9CC34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634F8FD-7A28-2C89-2616-216FAA1B8A5B}"/>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704351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B309C-9FAB-25D3-D2D6-608AD57EEF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343800-493F-17CC-4EA4-3311E4C999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59AF8F-6ABE-6E51-D2B0-43F8493D690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FC1501A-910A-6037-C64A-A6B4402385F2}"/>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434589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0C87-C229-2784-094F-123D448313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74B8FB-68FA-3D7F-06C8-D4AF5A93713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CD750A-CEE0-64E4-71A0-52281DBFBEC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0A4F79E-B575-734E-5EC1-C6DAFB431A36}"/>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745555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BF9C5-034B-33A0-FB4E-5A30C8B74A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41A3ED-B7E7-5C9B-DF24-93569FA340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F4B0CA-1E57-AA26-125F-4A097409090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E09340C-9093-DC6C-6620-81390E9A864D}"/>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695825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5333-D057-8B4C-6464-8BD4C35960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B42E2E-A2BA-1DBF-AF3D-5BF3F8577C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83F6CA8-1AE0-3F26-7C32-086C1DAD319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DE8B8C0-B4EA-9304-2097-D5BA16F0F381}"/>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479210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5D2F1-6792-483E-820F-5CCA397081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65D0CF-DB22-EB64-CF75-80074E9E7D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2B6694-BAD2-5C1D-F9FF-D60EB64C9B0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A106E69-BBA4-E88D-BC73-7D5E7691C3B9}"/>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468324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82D2-ABBE-3D80-7E9F-B1E0851AF0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7C41C59-E52C-1F0E-0CBB-992705D528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8226E13-4118-E870-A321-A3434D6CB21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8704415-D4DB-5909-A2FB-0041680D63EB}"/>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967594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06F16-B7E5-CB94-D1EE-05F7C44E2C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14A50A-B2CE-2FEC-A738-FFD994FA27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52BE9E-B2D5-550B-F169-44A1D4A7A84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FDA405E-E71B-84F8-891C-FF1866DC8AF5}"/>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3319830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JP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nchor="t">
            <a:spAutoFit/>
          </a:bodyPr>
          <a:lstStyle/>
          <a:p>
            <a:pPr marL="12700">
              <a:spcBef>
                <a:spcPts val="100"/>
              </a:spcBef>
            </a:pPr>
            <a:r>
              <a:rPr lang="es-ES" spc="165" dirty="0" err="1">
                <a:latin typeface="Arial"/>
                <a:cs typeface="Arial"/>
              </a:rPr>
              <a:t>Student</a:t>
            </a:r>
            <a:r>
              <a:rPr lang="es-ES" spc="165" dirty="0">
                <a:latin typeface="Arial"/>
                <a:cs typeface="Arial"/>
              </a:rPr>
              <a:t>: Ferran </a:t>
            </a:r>
            <a:r>
              <a:rPr lang="es-ES" spc="165" dirty="0" err="1">
                <a:latin typeface="Arial"/>
                <a:cs typeface="Arial"/>
              </a:rPr>
              <a:t>Guiñón</a:t>
            </a:r>
            <a:r>
              <a:rPr lang="es-ES" spc="165" dirty="0">
                <a:latin typeface="Arial"/>
                <a:cs typeface="Arial"/>
              </a:rPr>
              <a:t> Tatay y Miguel Pérez Hernández</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26A9F-418F-B723-FEC9-62797D6F52D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8660B24-78B9-05A3-06F4-506ACF175B49}"/>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1.1.1 Crystalline Silicon</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3D9A82E8-8826-4F69-3579-E657EF9D8F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3E8C4F2-C60F-E13F-9CA8-5030B2BED0E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A6D1995E-A513-D3C8-B6DF-1117594D867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58B01B62-9710-AE20-4BA3-43D04A5D828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779C5530-04B0-96CB-BDFB-EA3F912C7684}"/>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s-ES" dirty="0"/>
              <a:t>La curva muestra dispersión normal: el índice disminuye ligeramente con la longitud de onda en el rango 1.50–1.60 </a:t>
            </a:r>
            <a:r>
              <a:rPr lang="es-ES" dirty="0" err="1"/>
              <a:t>μm</a:t>
            </a:r>
            <a:r>
              <a:rPr lang="es-ES" dirty="0"/>
              <a:t> (pendiente negativa).</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6" name="Imagen 5" descr="Gráfico, Gráfico de líneas&#10;&#10;El contenido generado por IA puede ser incorrecto.">
            <a:extLst>
              <a:ext uri="{FF2B5EF4-FFF2-40B4-BE49-F238E27FC236}">
                <a16:creationId xmlns:a16="http://schemas.microsoft.com/office/drawing/2014/main" id="{E16B8B28-3AC9-BABD-1908-6F9816ED9CFD}"/>
              </a:ext>
            </a:extLst>
          </p:cNvPr>
          <p:cNvPicPr>
            <a:picLocks noChangeAspect="1"/>
          </p:cNvPicPr>
          <p:nvPr/>
        </p:nvPicPr>
        <p:blipFill>
          <a:blip r:embed="rId5"/>
          <a:stretch>
            <a:fillRect/>
          </a:stretch>
        </p:blipFill>
        <p:spPr>
          <a:xfrm>
            <a:off x="3733800" y="940964"/>
            <a:ext cx="4381500" cy="3413669"/>
          </a:xfrm>
          <a:prstGeom prst="rect">
            <a:avLst/>
          </a:prstGeom>
        </p:spPr>
      </p:pic>
    </p:spTree>
    <p:extLst>
      <p:ext uri="{BB962C8B-B14F-4D97-AF65-F5344CB8AC3E}">
        <p14:creationId xmlns:p14="http://schemas.microsoft.com/office/powerpoint/2010/main" val="3544970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3CF53-D774-7FE9-3A6C-C659A1F4D96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235621E-11AE-341F-4AD7-9600C2153DD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1.1.2 Silicon Nitride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49FB7AF-C0E4-C547-2CE6-15429A82E1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B6A80B8-62B0-A340-BF94-3C12B66A53DC}"/>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AEC6F910-76EF-478A-EF60-623A46E6570F}"/>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7DEF489E-229E-E2D9-FD1F-6D33202D9304}"/>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8EF97D4D-E42F-7097-5659-229B18B2603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7" name="Imagen 6" descr="Gráfico, Gráfico de líneas&#10;&#10;El contenido generado por IA puede ser incorrecto.">
            <a:extLst>
              <a:ext uri="{FF2B5EF4-FFF2-40B4-BE49-F238E27FC236}">
                <a16:creationId xmlns:a16="http://schemas.microsoft.com/office/drawing/2014/main" id="{307C9524-7DB8-7F93-9117-F0E58F728BE7}"/>
              </a:ext>
            </a:extLst>
          </p:cNvPr>
          <p:cNvPicPr>
            <a:picLocks noChangeAspect="1"/>
          </p:cNvPicPr>
          <p:nvPr/>
        </p:nvPicPr>
        <p:blipFill>
          <a:blip r:embed="rId5"/>
          <a:stretch>
            <a:fillRect/>
          </a:stretch>
        </p:blipFill>
        <p:spPr>
          <a:xfrm>
            <a:off x="3861714" y="966523"/>
            <a:ext cx="4695424" cy="3596663"/>
          </a:xfrm>
          <a:prstGeom prst="rect">
            <a:avLst/>
          </a:prstGeom>
        </p:spPr>
      </p:pic>
    </p:spTree>
    <p:extLst>
      <p:ext uri="{BB962C8B-B14F-4D97-AF65-F5344CB8AC3E}">
        <p14:creationId xmlns:p14="http://schemas.microsoft.com/office/powerpoint/2010/main" val="856286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A4BB4-5494-005A-697B-38B5164343D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905251A-3D9F-3F2E-5493-97E446ABA71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1.1.3 Silicon Dioxide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2E83DE70-4F23-0EA8-AA24-D33D5AF4D7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5CF672-9410-BE0C-8A3D-89B88BA82661}"/>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9D5C9EFB-6923-F07B-D895-9E9270E2F8A0}"/>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BDEC8238-B550-A28C-4EB7-D0001BE0FD24}"/>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6CBCC05C-D211-F6A8-FD1F-C98EE07CBCD0}"/>
              </a:ext>
            </a:extLst>
          </p:cNvPr>
          <p:cNvSpPr txBox="1"/>
          <p:nvPr/>
        </p:nvSpPr>
        <p:spPr>
          <a:xfrm>
            <a:off x="609441" y="4860334"/>
            <a:ext cx="11199971" cy="149271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err="1">
                <a:latin typeface="Arial" panose="020B0604020202020204" pitchFamily="34" charset="0"/>
                <a:cs typeface="Arial" panose="020B0604020202020204" pitchFamily="34" charset="0"/>
              </a:rPr>
              <a:t>Después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obtener</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refracción</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3 </a:t>
            </a:r>
            <a:r>
              <a:rPr lang="en-US" sz="1200" dirty="0" err="1">
                <a:latin typeface="Arial" panose="020B0604020202020204" pitchFamily="34" charset="0"/>
                <a:cs typeface="Arial" panose="020B0604020202020204" pitchFamily="34" charset="0"/>
              </a:rPr>
              <a:t>materiales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extraer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ciertas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conclusiones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apartado</a:t>
            </a:r>
            <a:r>
              <a:rPr lang="en-US" sz="1200" dirty="0">
                <a:latin typeface="Arial" panose="020B0604020202020204" pitchFamily="34" charset="0"/>
                <a:cs typeface="Arial" panose="020B0604020202020204" pitchFamily="34" charset="0"/>
              </a:rPr>
              <a:t> 1.1.1) es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mayor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refracción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s-ES" sz="1100" dirty="0">
                <a:latin typeface="Arial" panose="020B0604020202020204" pitchFamily="34" charset="0"/>
                <a:cs typeface="Arial" panose="020B0604020202020204" pitchFamily="34" charset="0"/>
              </a:rPr>
              <a:t>implica un fuerte confinamiento del modo en el núcleo de la guía de onda. En este caso, la mayor parte del campo electromagnético se propaga en el material de alto índice, lo que dará lugar a una constante de propagación elevada y un modo bien guiado. En contrapartida, el SiO2 es el que tiene el índice de refracción más bajo, y por tanto hay un confinamiento débil del modo. En este régimen, una parte importante del campo electromagnético se propaga fuera del núcleo.</a:t>
            </a:r>
          </a:p>
          <a:p>
            <a:pPr algn="just"/>
            <a:endParaRPr lang="es-E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En los 3 casos se observa una fuerte dependencia entre el índice de refracción y la longitud de onda, ya que, en todos ellos conforme aumenta la longitud de onda, disminuye el índice de refracción.</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6" name="Imagen 5" descr="Gráfico, Gráfico de líneas&#10;&#10;El contenido generado por IA puede ser incorrecto.">
            <a:extLst>
              <a:ext uri="{FF2B5EF4-FFF2-40B4-BE49-F238E27FC236}">
                <a16:creationId xmlns:a16="http://schemas.microsoft.com/office/drawing/2014/main" id="{AEC47221-3F80-8381-4BBC-D339228D087C}"/>
              </a:ext>
            </a:extLst>
          </p:cNvPr>
          <p:cNvPicPr>
            <a:picLocks noChangeAspect="1"/>
          </p:cNvPicPr>
          <p:nvPr/>
        </p:nvPicPr>
        <p:blipFill>
          <a:blip r:embed="rId5"/>
          <a:stretch>
            <a:fillRect/>
          </a:stretch>
        </p:blipFill>
        <p:spPr>
          <a:xfrm>
            <a:off x="3581400" y="837374"/>
            <a:ext cx="5205413" cy="3934324"/>
          </a:xfrm>
          <a:prstGeom prst="rect">
            <a:avLst/>
          </a:prstGeom>
        </p:spPr>
      </p:pic>
    </p:spTree>
    <p:extLst>
      <p:ext uri="{BB962C8B-B14F-4D97-AF65-F5344CB8AC3E}">
        <p14:creationId xmlns:p14="http://schemas.microsoft.com/office/powerpoint/2010/main" val="1425481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38DC6-92A4-CA05-E3F6-24B098BD853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309E8E1-8567-556F-1E8E-0ED336993D6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1.2 Cross – Section Definition</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8DDAFE6D-923F-4814-932A-C4A225A54F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CFAB46E-02AF-9BAA-2A6F-FE2F33244326}"/>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280338AF-9DFD-36DA-54FF-8040914A9A5A}"/>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C4037F03-EEBE-0B86-4A24-EC4E26CDB8C5}"/>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1763D35D-36E5-49A4-E80F-0129421F6953}"/>
              </a:ext>
            </a:extLst>
          </p:cNvPr>
          <p:cNvSpPr txBox="1"/>
          <p:nvPr/>
        </p:nvSpPr>
        <p:spPr>
          <a:xfrm>
            <a:off x="608012" y="4616315"/>
            <a:ext cx="11199971" cy="1615827"/>
          </a:xfrm>
          <a:prstGeom prst="rect">
            <a:avLst/>
          </a:prstGeom>
          <a:solidFill>
            <a:schemeClr val="bg1">
              <a:lumMod val="95000"/>
            </a:schemeClr>
          </a:solidFill>
          <a:ln w="28575">
            <a:solidFill>
              <a:srgbClr val="E0700D"/>
            </a:solidFill>
          </a:ln>
        </p:spPr>
        <p:txBody>
          <a:bodyPr wrap="square" rtlCol="0">
            <a:spAutoFit/>
          </a:bodyPr>
          <a:lstStyle/>
          <a:p>
            <a:r>
              <a:rPr lang="es-ES" sz="1100" dirty="0">
                <a:latin typeface="Arial" panose="020B0604020202020204" pitchFamily="34" charset="0"/>
                <a:cs typeface="Arial" panose="020B0604020202020204" pitchFamily="34" charset="0"/>
              </a:rPr>
              <a:t>La figura muestra el mapa de índice de refracción del corte transversal: región rectangular central (</a:t>
            </a:r>
            <a:r>
              <a:rPr lang="es-ES" sz="1100" dirty="0" err="1">
                <a:latin typeface="Arial" panose="020B0604020202020204" pitchFamily="34" charset="0"/>
                <a:cs typeface="Arial" panose="020B0604020202020204" pitchFamily="34" charset="0"/>
              </a:rPr>
              <a:t>core</a:t>
            </a:r>
            <a:r>
              <a:rPr lang="es-ES" sz="1100" dirty="0">
                <a:latin typeface="Arial" panose="020B0604020202020204" pitchFamily="34" charset="0"/>
                <a:cs typeface="Arial" panose="020B0604020202020204" pitchFamily="34" charset="0"/>
              </a:rPr>
              <a:t>) con índice mayor (</a:t>
            </a:r>
            <a:r>
              <a:rPr lang="es-ES" sz="1100" dirty="0" err="1">
                <a:latin typeface="Arial" panose="020B0604020202020204" pitchFamily="34" charset="0"/>
                <a:cs typeface="Arial" panose="020B0604020202020204" pitchFamily="34" charset="0"/>
              </a:rPr>
              <a:t>SiN</a:t>
            </a:r>
            <a:r>
              <a:rPr lang="es-ES" sz="1100" dirty="0">
                <a:latin typeface="Arial" panose="020B0604020202020204" pitchFamily="34" charset="0"/>
                <a:cs typeface="Arial" panose="020B0604020202020204" pitchFamily="34" charset="0"/>
              </a:rPr>
              <a:t>) rodeada por SiO2 de índice menor.</a:t>
            </a:r>
          </a:p>
          <a:p>
            <a:endParaRPr lang="es-ES" sz="1100" dirty="0">
              <a:latin typeface="Arial" panose="020B0604020202020204" pitchFamily="34" charset="0"/>
              <a:cs typeface="Arial" panose="020B0604020202020204" pitchFamily="34" charset="0"/>
            </a:endParaRPr>
          </a:p>
          <a:p>
            <a:r>
              <a:rPr lang="es-ES" sz="1100" dirty="0">
                <a:latin typeface="Arial" panose="020B0604020202020204" pitchFamily="34" charset="0"/>
                <a:cs typeface="Arial" panose="020B0604020202020204" pitchFamily="34" charset="0"/>
              </a:rPr>
              <a:t>Tal y como se puede observar, hay un fuerte confinamiento transversal y modos relativamente compactos dentro del </a:t>
            </a:r>
            <a:r>
              <a:rPr lang="es-ES" sz="1100" dirty="0" err="1">
                <a:latin typeface="Arial" panose="020B0604020202020204" pitchFamily="34" charset="0"/>
                <a:cs typeface="Arial" panose="020B0604020202020204" pitchFamily="34" charset="0"/>
              </a:rPr>
              <a:t>core</a:t>
            </a:r>
            <a:r>
              <a:rPr lang="es-ES" sz="1100" dirty="0">
                <a:latin typeface="Arial" panose="020B0604020202020204" pitchFamily="34" charset="0"/>
                <a:cs typeface="Arial" panose="020B0604020202020204" pitchFamily="34" charset="0"/>
              </a:rPr>
              <a:t>.</a:t>
            </a:r>
          </a:p>
          <a:p>
            <a:pPr algn="just"/>
            <a:endParaRPr lang="en-US" sz="1100" u="sng"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A partir de los resultados, se concluye que los modos fundamentales estarán bien confinados y menos sensibles a pérdida por curvatura; modos superiores pueden acercarse al índice del </a:t>
            </a:r>
            <a:r>
              <a:rPr lang="es-ES" sz="1100" dirty="0" err="1">
                <a:latin typeface="Arial" panose="020B0604020202020204" pitchFamily="34" charset="0"/>
                <a:cs typeface="Arial" panose="020B0604020202020204" pitchFamily="34" charset="0"/>
              </a:rPr>
              <a:t>cladding</a:t>
            </a:r>
            <a:r>
              <a:rPr lang="es-ES" sz="1100" dirty="0">
                <a:latin typeface="Arial" panose="020B0604020202020204" pitchFamily="34" charset="0"/>
                <a:cs typeface="Arial" panose="020B0604020202020204" pitchFamily="34" charset="0"/>
              </a:rPr>
              <a:t> y ser más </a:t>
            </a:r>
            <a:r>
              <a:rPr lang="es-ES" sz="1100" dirty="0" err="1">
                <a:latin typeface="Arial" panose="020B0604020202020204" pitchFamily="34" charset="0"/>
                <a:cs typeface="Arial" panose="020B0604020202020204" pitchFamily="34" charset="0"/>
              </a:rPr>
              <a:t>radiativos</a:t>
            </a:r>
            <a:r>
              <a:rPr lang="es-ES" sz="1100" dirty="0">
                <a:latin typeface="Arial" panose="020B0604020202020204" pitchFamily="34" charset="0"/>
                <a:cs typeface="Arial" panose="020B0604020202020204" pitchFamily="34" charset="0"/>
              </a:rPr>
              <a:t>.</a:t>
            </a:r>
            <a:endParaRPr lang="en-US" sz="1100" dirty="0">
              <a:latin typeface="Arial" panose="020B0604020202020204" pitchFamily="34" charset="0"/>
              <a:cs typeface="Arial" panose="020B0604020202020204" pitchFamily="34" charset="0"/>
            </a:endParaRPr>
          </a:p>
          <a:p>
            <a:pPr algn="just"/>
            <a:endParaRPr lang="en-US" sz="1100" dirty="0">
              <a:latin typeface="Arial" panose="020B0604020202020204" pitchFamily="34" charset="0"/>
              <a:cs typeface="Arial" panose="020B0604020202020204" pitchFamily="34" charset="0"/>
            </a:endParaRPr>
          </a:p>
          <a:p>
            <a:pPr algn="just"/>
            <a:r>
              <a:rPr lang="es-ES" sz="1100" dirty="0">
                <a:latin typeface="Arial" panose="020B0604020202020204" pitchFamily="34" charset="0"/>
                <a:cs typeface="Arial" panose="020B0604020202020204" pitchFamily="34" charset="0"/>
              </a:rPr>
              <a:t>Las dimensiones del núcleo (1.2 µm × 300 nm), comparables con la longitud de onda de operación (1.55 µm), proporcionan un guiado fuerte, favoreciendo la existencia de un modo fundamental bien definido y limitando el número de modos guiados.</a:t>
            </a:r>
            <a:endParaRPr lang="en-US" sz="1100" dirty="0">
              <a:latin typeface="Arial" panose="020B0604020202020204" pitchFamily="34" charset="0"/>
              <a:cs typeface="Arial" panose="020B0604020202020204" pitchFamily="34" charset="0"/>
            </a:endParaRPr>
          </a:p>
        </p:txBody>
      </p:sp>
      <p:pic>
        <p:nvPicPr>
          <p:cNvPr id="7" name="Imagen 6" descr="Gráfico&#10;&#10;El contenido generado por IA puede ser incorrecto.">
            <a:extLst>
              <a:ext uri="{FF2B5EF4-FFF2-40B4-BE49-F238E27FC236}">
                <a16:creationId xmlns:a16="http://schemas.microsoft.com/office/drawing/2014/main" id="{64558F66-015E-0C8F-091A-BC72F9F93C50}"/>
              </a:ext>
            </a:extLst>
          </p:cNvPr>
          <p:cNvPicPr>
            <a:picLocks noChangeAspect="1"/>
          </p:cNvPicPr>
          <p:nvPr/>
        </p:nvPicPr>
        <p:blipFill>
          <a:blip r:embed="rId5"/>
          <a:stretch>
            <a:fillRect/>
          </a:stretch>
        </p:blipFill>
        <p:spPr>
          <a:xfrm>
            <a:off x="3457575" y="737296"/>
            <a:ext cx="5276850" cy="3857625"/>
          </a:xfrm>
          <a:prstGeom prst="rect">
            <a:avLst/>
          </a:prstGeom>
        </p:spPr>
      </p:pic>
    </p:spTree>
    <p:extLst>
      <p:ext uri="{BB962C8B-B14F-4D97-AF65-F5344CB8AC3E}">
        <p14:creationId xmlns:p14="http://schemas.microsoft.com/office/powerpoint/2010/main" val="1833201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FFECF-180E-5C81-771C-D578FF92039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B1E36B1-B49F-ED1E-E24D-E516007A803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1.3.1 Numerical Results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A46FDAE-A7EF-12AD-1752-52D3D8557E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689809B-7BF1-E9CE-BFE6-56D5E7F9D07C}"/>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2FEFE56-AE21-4358-54E7-D48EE4D9EB82}"/>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BC068F50-6FC0-96ED-55AB-2A57F76324F1}"/>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C59D2FB-2086-639D-B43B-E13EE1B4EB00}"/>
              </a:ext>
            </a:extLst>
          </p:cNvPr>
          <p:cNvSpPr txBox="1"/>
          <p:nvPr/>
        </p:nvSpPr>
        <p:spPr>
          <a:xfrm>
            <a:off x="608011" y="4201866"/>
            <a:ext cx="11199971" cy="196977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r>
              <a:rPr lang="es-ES" sz="1100" dirty="0">
                <a:latin typeface="Arial" panose="020B0604020202020204" pitchFamily="34" charset="0"/>
                <a:cs typeface="Arial" panose="020B0604020202020204" pitchFamily="34" charset="0"/>
              </a:rPr>
              <a:t>El cálculo de los índices efectivos muestra cuatro soluciones modales con valores complejos. La parte real del índice efectivo determina la constante de propagación de cada modo, mientras que la parte imaginaria está asociada a pérdidas por radiación y efectos numéricos del </a:t>
            </a:r>
            <a:r>
              <a:rPr lang="es-ES" sz="1100" dirty="0" err="1">
                <a:latin typeface="Arial" panose="020B0604020202020204" pitchFamily="34" charset="0"/>
                <a:cs typeface="Arial" panose="020B0604020202020204" pitchFamily="34" charset="0"/>
              </a:rPr>
              <a:t>solver</a:t>
            </a:r>
            <a:r>
              <a:rPr lang="es-ES" sz="1100" dirty="0">
                <a:latin typeface="Arial" panose="020B0604020202020204" pitchFamily="34" charset="0"/>
                <a:cs typeface="Arial" panose="020B0604020202020204" pitchFamily="34" charset="0"/>
              </a:rPr>
              <a:t>.</a:t>
            </a:r>
          </a:p>
          <a:p>
            <a:endParaRPr lang="es-ES" sz="1100" dirty="0">
              <a:latin typeface="Arial" panose="020B0604020202020204" pitchFamily="34" charset="0"/>
              <a:cs typeface="Arial" panose="020B0604020202020204" pitchFamily="34" charset="0"/>
            </a:endParaRPr>
          </a:p>
          <a:p>
            <a:r>
              <a:rPr lang="es-ES" sz="1100" dirty="0">
                <a:latin typeface="Arial"/>
                <a:cs typeface="Arial"/>
              </a:rPr>
              <a:t>El modo fundamental presenta el mayor índice efectivo, indicando un fuerte confinamiento del campo electromagnético en el núcleo. A medida que aumenta el orden modal, el índice efectivo disminuye y se aproxima al del </a:t>
            </a:r>
            <a:r>
              <a:rPr lang="es-ES" sz="1100" dirty="0" err="1">
                <a:latin typeface="Arial"/>
                <a:cs typeface="Arial"/>
              </a:rPr>
              <a:t>cladding</a:t>
            </a:r>
            <a:r>
              <a:rPr lang="es-ES" sz="1100" dirty="0">
                <a:latin typeface="Arial"/>
                <a:cs typeface="Arial"/>
              </a:rPr>
              <a:t>, lo que evidencia un confinamiento progresivamente menor y una mayor proximidad a la condición de corte (deja de ser un modo guiado). </a:t>
            </a:r>
          </a:p>
          <a:p>
            <a:endParaRPr lang="es-ES" sz="1100" dirty="0">
              <a:latin typeface="Arial" panose="020B0604020202020204" pitchFamily="34" charset="0"/>
              <a:cs typeface="Arial" panose="020B0604020202020204" pitchFamily="34" charset="0"/>
            </a:endParaRPr>
          </a:p>
          <a:p>
            <a:r>
              <a:rPr lang="es-ES" sz="1100" dirty="0">
                <a:latin typeface="Arial"/>
                <a:cs typeface="Arial"/>
              </a:rPr>
              <a:t>El análisis de la polarización muestra que los modos pueden clasificarse como TE o TM en función de la fracción de energía asociada a cada polarización. Donde, observando las fracciones obtenidas, es </a:t>
            </a:r>
            <a:r>
              <a:rPr lang="en-US" sz="1100" dirty="0" err="1">
                <a:latin typeface="Arial"/>
                <a:cs typeface="Arial"/>
              </a:rPr>
              <a:t>posible</a:t>
            </a:r>
            <a:r>
              <a:rPr lang="en-US" sz="1100" dirty="0">
                <a:latin typeface="Arial"/>
                <a:cs typeface="Arial"/>
              </a:rPr>
              <a:t> </a:t>
            </a:r>
            <a:r>
              <a:rPr lang="en-US" sz="1100" dirty="0" err="1">
                <a:latin typeface="Arial"/>
                <a:cs typeface="Arial"/>
              </a:rPr>
              <a:t>concluir</a:t>
            </a:r>
            <a:r>
              <a:rPr lang="en-US" sz="1100" dirty="0">
                <a:latin typeface="Arial"/>
                <a:cs typeface="Arial"/>
              </a:rPr>
              <a:t> </a:t>
            </a:r>
            <a:r>
              <a:rPr lang="en-US" sz="1100" dirty="0" err="1">
                <a:latin typeface="Arial"/>
                <a:cs typeface="Arial"/>
              </a:rPr>
              <a:t>que</a:t>
            </a:r>
            <a:r>
              <a:rPr lang="en-US" sz="1100" dirty="0">
                <a:latin typeface="Arial"/>
                <a:cs typeface="Arial"/>
              </a:rPr>
              <a:t> </a:t>
            </a:r>
            <a:r>
              <a:rPr lang="en-US" sz="1100" dirty="0" err="1">
                <a:latin typeface="Arial"/>
                <a:cs typeface="Arial"/>
              </a:rPr>
              <a:t>el</a:t>
            </a:r>
            <a:r>
              <a:rPr lang="en-US" sz="1100" dirty="0">
                <a:latin typeface="Arial"/>
                <a:cs typeface="Arial"/>
              </a:rPr>
              <a:t> modo fundamental es </a:t>
            </a:r>
            <a:r>
              <a:rPr lang="en-US" sz="1100" dirty="0" err="1">
                <a:latin typeface="Arial"/>
                <a:cs typeface="Arial"/>
              </a:rPr>
              <a:t>te</a:t>
            </a:r>
            <a:r>
              <a:rPr lang="en-US" sz="1100" dirty="0">
                <a:latin typeface="Arial"/>
                <a:cs typeface="Arial"/>
              </a:rPr>
              <a:t> (</a:t>
            </a:r>
            <a:r>
              <a:rPr lang="en-US" sz="1100" dirty="0" err="1">
                <a:latin typeface="Arial"/>
                <a:cs typeface="Arial"/>
              </a:rPr>
              <a:t>porque</a:t>
            </a:r>
            <a:r>
              <a:rPr lang="en-US" sz="1100" dirty="0">
                <a:latin typeface="Arial"/>
                <a:cs typeface="Arial"/>
              </a:rPr>
              <a:t> </a:t>
            </a:r>
            <a:r>
              <a:rPr lang="en-US" sz="1100" dirty="0" err="1">
                <a:latin typeface="Arial"/>
                <a:cs typeface="Arial"/>
              </a:rPr>
              <a:t>tiene</a:t>
            </a:r>
            <a:r>
              <a:rPr lang="en-US" sz="1100" dirty="0">
                <a:latin typeface="Arial"/>
                <a:cs typeface="Arial"/>
              </a:rPr>
              <a:t> un 99,51% de modo TE y un 0,41% de modo TM). </a:t>
            </a:r>
            <a:r>
              <a:rPr lang="en-US" sz="1100" dirty="0" err="1">
                <a:latin typeface="Arial"/>
                <a:cs typeface="Arial"/>
              </a:rPr>
              <a:t>Siguiendo</a:t>
            </a:r>
            <a:r>
              <a:rPr lang="en-US" sz="1100" dirty="0">
                <a:latin typeface="Arial"/>
                <a:cs typeface="Arial"/>
              </a:rPr>
              <a:t> </a:t>
            </a:r>
            <a:r>
              <a:rPr lang="en-US" sz="1100" dirty="0" err="1">
                <a:latin typeface="Arial"/>
                <a:cs typeface="Arial"/>
              </a:rPr>
              <a:t>el</a:t>
            </a:r>
            <a:r>
              <a:rPr lang="en-US" sz="1100" dirty="0">
                <a:latin typeface="Arial"/>
                <a:cs typeface="Arial"/>
              </a:rPr>
              <a:t> </a:t>
            </a:r>
            <a:r>
              <a:rPr lang="en-US" sz="1100" dirty="0" err="1">
                <a:latin typeface="Arial"/>
                <a:cs typeface="Arial"/>
              </a:rPr>
              <a:t>mismo</a:t>
            </a:r>
            <a:r>
              <a:rPr lang="en-US" sz="1100" dirty="0">
                <a:latin typeface="Arial"/>
                <a:cs typeface="Arial"/>
              </a:rPr>
              <a:t> </a:t>
            </a:r>
            <a:r>
              <a:rPr lang="en-US" sz="1100" dirty="0" err="1">
                <a:latin typeface="Arial"/>
                <a:cs typeface="Arial"/>
              </a:rPr>
              <a:t>razonamiento</a:t>
            </a:r>
            <a:r>
              <a:rPr lang="en-US" sz="1100" dirty="0">
                <a:latin typeface="Arial"/>
                <a:cs typeface="Arial"/>
              </a:rPr>
              <a:t>, es </a:t>
            </a:r>
            <a:r>
              <a:rPr lang="en-US" sz="1100" dirty="0" err="1">
                <a:latin typeface="Arial"/>
                <a:cs typeface="Arial"/>
              </a:rPr>
              <a:t>posible</a:t>
            </a:r>
            <a:r>
              <a:rPr lang="en-US" sz="1100" dirty="0">
                <a:latin typeface="Arial"/>
                <a:cs typeface="Arial"/>
              </a:rPr>
              <a:t> </a:t>
            </a:r>
            <a:r>
              <a:rPr lang="en-US" sz="1100" dirty="0" err="1">
                <a:latin typeface="Arial"/>
                <a:cs typeface="Arial"/>
              </a:rPr>
              <a:t>concluir</a:t>
            </a:r>
            <a:r>
              <a:rPr lang="en-US" sz="1100" dirty="0">
                <a:latin typeface="Arial"/>
                <a:cs typeface="Arial"/>
              </a:rPr>
              <a:t> </a:t>
            </a:r>
            <a:r>
              <a:rPr lang="en-US" sz="1100" dirty="0" err="1">
                <a:latin typeface="Arial"/>
                <a:cs typeface="Arial"/>
              </a:rPr>
              <a:t>que</a:t>
            </a:r>
            <a:r>
              <a:rPr lang="en-US" sz="1100" dirty="0">
                <a:latin typeface="Arial"/>
                <a:cs typeface="Arial"/>
              </a:rPr>
              <a:t> </a:t>
            </a:r>
            <a:r>
              <a:rPr lang="en-US" sz="1100" dirty="0" err="1">
                <a:latin typeface="Arial"/>
                <a:cs typeface="Arial"/>
              </a:rPr>
              <a:t>el</a:t>
            </a:r>
            <a:r>
              <a:rPr lang="en-US" sz="1100" dirty="0">
                <a:latin typeface="Arial"/>
                <a:cs typeface="Arial"/>
              </a:rPr>
              <a:t> </a:t>
            </a:r>
            <a:r>
              <a:rPr lang="en-US" sz="1100" dirty="0" err="1">
                <a:latin typeface="Arial"/>
                <a:cs typeface="Arial"/>
              </a:rPr>
              <a:t>tercer</a:t>
            </a:r>
            <a:r>
              <a:rPr lang="en-US" sz="1100" dirty="0">
                <a:latin typeface="Arial"/>
                <a:cs typeface="Arial"/>
              </a:rPr>
              <a:t> modo también es TE </a:t>
            </a:r>
            <a:r>
              <a:rPr lang="en-US" sz="1100" dirty="0" err="1">
                <a:latin typeface="Arial"/>
                <a:cs typeface="Arial"/>
              </a:rPr>
              <a:t>mientras</a:t>
            </a:r>
            <a:r>
              <a:rPr lang="en-US" sz="1100" dirty="0">
                <a:latin typeface="Arial"/>
                <a:cs typeface="Arial"/>
              </a:rPr>
              <a:t> </a:t>
            </a:r>
            <a:r>
              <a:rPr lang="en-US" sz="1100" dirty="0" err="1">
                <a:latin typeface="Arial"/>
                <a:cs typeface="Arial"/>
              </a:rPr>
              <a:t>que</a:t>
            </a:r>
            <a:r>
              <a:rPr lang="en-US" sz="1100" dirty="0">
                <a:latin typeface="Arial"/>
                <a:cs typeface="Arial"/>
              </a:rPr>
              <a:t> </a:t>
            </a:r>
            <a:r>
              <a:rPr lang="en-US" sz="1100" dirty="0" err="1">
                <a:latin typeface="Arial"/>
                <a:cs typeface="Arial"/>
              </a:rPr>
              <a:t>el</a:t>
            </a:r>
            <a:r>
              <a:rPr lang="en-US" sz="1100" dirty="0">
                <a:latin typeface="Arial"/>
                <a:cs typeface="Arial"/>
              </a:rPr>
              <a:t> </a:t>
            </a:r>
            <a:r>
              <a:rPr lang="en-US" sz="1100" dirty="0" err="1">
                <a:latin typeface="Arial"/>
                <a:cs typeface="Arial"/>
              </a:rPr>
              <a:t>segundo</a:t>
            </a:r>
            <a:r>
              <a:rPr lang="en-US" sz="1100" dirty="0">
                <a:latin typeface="Arial"/>
                <a:cs typeface="Arial"/>
              </a:rPr>
              <a:t> modo es TM al </a:t>
            </a:r>
            <a:r>
              <a:rPr lang="en-US" sz="1100" dirty="0" err="1">
                <a:latin typeface="Arial"/>
                <a:cs typeface="Arial"/>
              </a:rPr>
              <a:t>igual</a:t>
            </a:r>
            <a:r>
              <a:rPr lang="en-US" sz="1100" dirty="0">
                <a:latin typeface="Arial"/>
                <a:cs typeface="Arial"/>
              </a:rPr>
              <a:t> </a:t>
            </a:r>
            <a:r>
              <a:rPr lang="en-US" sz="1100" dirty="0" err="1">
                <a:latin typeface="Arial"/>
                <a:cs typeface="Arial"/>
              </a:rPr>
              <a:t>que</a:t>
            </a:r>
            <a:r>
              <a:rPr lang="en-US" sz="1100" dirty="0">
                <a:latin typeface="Arial"/>
                <a:cs typeface="Arial"/>
              </a:rPr>
              <a:t> </a:t>
            </a:r>
            <a:r>
              <a:rPr lang="en-US" sz="1100" dirty="0" err="1">
                <a:latin typeface="Arial"/>
                <a:cs typeface="Arial"/>
              </a:rPr>
              <a:t>el</a:t>
            </a:r>
            <a:r>
              <a:rPr lang="en-US" sz="1100" dirty="0">
                <a:latin typeface="Arial"/>
                <a:cs typeface="Arial"/>
              </a:rPr>
              <a:t> </a:t>
            </a:r>
            <a:r>
              <a:rPr lang="en-US" sz="1100" dirty="0" err="1">
                <a:latin typeface="Arial"/>
                <a:cs typeface="Arial"/>
              </a:rPr>
              <a:t>cuarto</a:t>
            </a:r>
            <a:r>
              <a:rPr lang="es-ES" sz="1100" dirty="0">
                <a:latin typeface="Arial"/>
                <a:cs typeface="Arial"/>
              </a:rPr>
              <a:t> Los modos TE presentan un mayor índice efectivo, lo que se explica por un mejor confinamiento del campo eléctrico en el núcleo, en concordancia con las condiciones de contorno electromagnéticas</a:t>
            </a:r>
            <a:r>
              <a:rPr lang="es-ES" sz="1200" dirty="0"/>
              <a:t>.</a:t>
            </a:r>
            <a:endParaRPr lang="en-US" sz="1200" dirty="0">
              <a:latin typeface="Arial" panose="020B0604020202020204" pitchFamily="34" charset="0"/>
              <a:cs typeface="Arial" panose="020B0604020202020204" pitchFamily="34" charset="0"/>
            </a:endParaRPr>
          </a:p>
        </p:txBody>
      </p:sp>
      <p:sp>
        <p:nvSpPr>
          <p:cNvPr id="8" name="Marcador de texto 2">
            <a:extLst>
              <a:ext uri="{FF2B5EF4-FFF2-40B4-BE49-F238E27FC236}">
                <a16:creationId xmlns:a16="http://schemas.microsoft.com/office/drawing/2014/main" id="{7DDE1105-326D-CA11-8866-852C3659C910}"/>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ES" b="1" u="sng" dirty="0" err="1"/>
              <a:t>deep_waveguide.n_eff</a:t>
            </a:r>
            <a:endParaRPr lang="es-ES" b="1" u="sng" dirty="0"/>
          </a:p>
          <a:p>
            <a:r>
              <a:rPr lang="en-US" sz="2000" dirty="0"/>
              <a:t>array([1.60524792+0.00010066j, 1.52829803+0.00017753j,       1.45072999+0.00019228j, 1.43325817+0.00021838j])</a:t>
            </a:r>
          </a:p>
          <a:p>
            <a:pPr algn="just"/>
            <a:endParaRPr lang="en-US" sz="2000" kern="0" dirty="0">
              <a:solidFill>
                <a:sysClr val="windowText" lastClr="000000"/>
              </a:solidFill>
            </a:endParaRPr>
          </a:p>
          <a:p>
            <a:pPr algn="just"/>
            <a:r>
              <a:rPr lang="es-ES" b="1" u="sng" dirty="0" err="1"/>
              <a:t>deep_waveguide.fraction_te</a:t>
            </a:r>
            <a:endParaRPr lang="es-ES" b="1" u="sng" dirty="0"/>
          </a:p>
          <a:p>
            <a:pPr algn="just"/>
            <a:r>
              <a:rPr lang="en-US" dirty="0"/>
              <a:t>array([0.99505426, 0.01004259, 0.96264794, 0.047651 ])</a:t>
            </a:r>
          </a:p>
          <a:p>
            <a:pPr algn="just"/>
            <a:endParaRPr lang="en-US" b="1" u="sng" dirty="0"/>
          </a:p>
          <a:p>
            <a:pPr algn="just"/>
            <a:r>
              <a:rPr lang="es-ES" b="1" u="sng" dirty="0" err="1"/>
              <a:t>deep_waveguide.fraction_tm</a:t>
            </a:r>
            <a:endParaRPr lang="es-ES" b="1" u="sng" dirty="0"/>
          </a:p>
          <a:p>
            <a:pPr algn="just"/>
            <a:endParaRPr lang="es-ES" b="1" u="sng" dirty="0"/>
          </a:p>
          <a:p>
            <a:pPr algn="just"/>
            <a:r>
              <a:rPr lang="en-US" dirty="0"/>
              <a:t>array([0.00494574, 0.98995741, 0.03735206, 0.952349  ])</a:t>
            </a:r>
            <a:endParaRPr lang="es-ES"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1276283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3BBE8-B2B7-6DE9-F9EA-EF0AF99D805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92A8383-4811-0F88-9D5E-3DCF5304B9C9}"/>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1.3.4 Plots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6AED3661-A4EE-E9AE-63D2-B39814C169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B1D5D49-DD9A-97D1-E0C9-35C4F069C0EA}"/>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B9EC5370-0805-08D3-67BB-F205D321321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0D5343A8-7FEE-93F9-B1F8-28F63104048A}"/>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EEA28A30-0026-4A6F-6428-EDB8FF0CA585}"/>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6" name="Imagen 5" descr="Gráfico, Histograma&#10;&#10;El contenido generado por IA puede ser incorrecto.">
            <a:extLst>
              <a:ext uri="{FF2B5EF4-FFF2-40B4-BE49-F238E27FC236}">
                <a16:creationId xmlns:a16="http://schemas.microsoft.com/office/drawing/2014/main" id="{AAF083E7-81A2-A1C4-F232-63A9C45D6378}"/>
              </a:ext>
            </a:extLst>
          </p:cNvPr>
          <p:cNvPicPr>
            <a:picLocks noChangeAspect="1"/>
          </p:cNvPicPr>
          <p:nvPr/>
        </p:nvPicPr>
        <p:blipFill>
          <a:blip r:embed="rId5"/>
          <a:stretch>
            <a:fillRect/>
          </a:stretch>
        </p:blipFill>
        <p:spPr>
          <a:xfrm>
            <a:off x="0" y="942258"/>
            <a:ext cx="5505450" cy="3705225"/>
          </a:xfrm>
          <a:prstGeom prst="rect">
            <a:avLst/>
          </a:prstGeom>
        </p:spPr>
      </p:pic>
      <p:pic>
        <p:nvPicPr>
          <p:cNvPr id="9" name="Imagen 8" descr="Gráfico&#10;&#10;El contenido generado por IA puede ser incorrecto.">
            <a:extLst>
              <a:ext uri="{FF2B5EF4-FFF2-40B4-BE49-F238E27FC236}">
                <a16:creationId xmlns:a16="http://schemas.microsoft.com/office/drawing/2014/main" id="{014A173B-EF19-BB2E-14D7-23C72579ADE0}"/>
              </a:ext>
            </a:extLst>
          </p:cNvPr>
          <p:cNvPicPr>
            <a:picLocks noChangeAspect="1"/>
          </p:cNvPicPr>
          <p:nvPr/>
        </p:nvPicPr>
        <p:blipFill>
          <a:blip r:embed="rId6"/>
          <a:stretch>
            <a:fillRect/>
          </a:stretch>
        </p:blipFill>
        <p:spPr>
          <a:xfrm>
            <a:off x="6159209" y="942257"/>
            <a:ext cx="5505450" cy="3705225"/>
          </a:xfrm>
          <a:prstGeom prst="rect">
            <a:avLst/>
          </a:prstGeom>
        </p:spPr>
      </p:pic>
    </p:spTree>
    <p:extLst>
      <p:ext uri="{BB962C8B-B14F-4D97-AF65-F5344CB8AC3E}">
        <p14:creationId xmlns:p14="http://schemas.microsoft.com/office/powerpoint/2010/main" val="1573470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1DE73-DAFA-EC7B-7298-47DF83803BF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D64F688-6D58-81CD-6CA4-3B23F5428560}"/>
              </a:ext>
            </a:extLst>
          </p:cNvPr>
          <p:cNvSpPr txBox="1">
            <a:spLocks noGrp="1"/>
          </p:cNvSpPr>
          <p:nvPr>
            <p:ph type="title"/>
          </p:nvPr>
        </p:nvSpPr>
        <p:spPr>
          <a:xfrm>
            <a:off x="710792" y="94806"/>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1.3.4 Plots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18B4125-F5E5-3F60-B10B-8D678F4EF6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0717212-007F-5811-9342-256EF09E37A3}"/>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8A53F1A7-2DFA-7F18-7D98-59E839248D6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CCBD12D-A519-13E0-320D-E36A5F2F05ED}"/>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2FCA195C-8BE0-2A9E-4F98-73DCEFEF8A81}"/>
              </a:ext>
            </a:extLst>
          </p:cNvPr>
          <p:cNvSpPr txBox="1"/>
          <p:nvPr/>
        </p:nvSpPr>
        <p:spPr>
          <a:xfrm>
            <a:off x="608012" y="4021522"/>
            <a:ext cx="11199971" cy="267765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Los plots </a:t>
            </a:r>
            <a:r>
              <a:rPr lang="en-US" sz="1200" dirty="0" err="1">
                <a:latin typeface="Arial" panose="020B0604020202020204" pitchFamily="34" charset="0"/>
                <a:cs typeface="Arial" panose="020B0604020202020204" pitchFamily="34" charset="0"/>
              </a:rPr>
              <a:t>corroboran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numéricos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obtenidos</a:t>
            </a:r>
            <a:r>
              <a:rPr lang="es-ES" sz="1200" dirty="0">
                <a:latin typeface="Arial" panose="020B0604020202020204" pitchFamily="34" charset="0"/>
                <a:cs typeface="Arial" panose="020B0604020202020204" pitchFamily="34" charset="0"/>
              </a:rPr>
              <a:t>: el modo 0 está concentrado en el centro y apenas penetra en 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Esto es así porque el modo fundamental tiene el mayor índice efectivo, lo que implica el mayor valor de la constante de propagación β. Al ser β mayor, la componente transversal del vector de onda es menor, reduciendo la penetración en 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y aumentando el confinamiento en el </a:t>
            </a:r>
            <a:r>
              <a:rPr lang="es-ES" sz="1200" dirty="0" err="1">
                <a:latin typeface="Arial" panose="020B0604020202020204" pitchFamily="34" charset="0"/>
                <a:cs typeface="Arial" panose="020B0604020202020204" pitchFamily="34" charset="0"/>
              </a:rPr>
              <a:t>core</a:t>
            </a:r>
            <a:r>
              <a:rPr lang="es-ES" sz="1200" dirty="0">
                <a:latin typeface="Arial" panose="020B0604020202020204" pitchFamily="34" charset="0"/>
                <a:cs typeface="Arial" panose="020B0604020202020204" pitchFamily="34" charset="0"/>
              </a:rPr>
              <a:t>.</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los modos superiores, empiezan a aparecer “nodos”. El campo cambia de signo y aparecen regiones positivas y negativas. Esto es así porque los modos están cuantizados según la condición de resonancia transversal. La componente transversal del vector de onda cumple 𝑘g=𝑚𝜋/𝑑, por lo que el orden modal m determina el número de nodos en la dirección transversal. Además, los modos superiores están menos confinados: hay más campo fuera del </a:t>
            </a:r>
            <a:r>
              <a:rPr lang="es-ES" sz="1200" dirty="0" err="1">
                <a:latin typeface="Arial" panose="020B0604020202020204" pitchFamily="34" charset="0"/>
                <a:cs typeface="Arial" panose="020B0604020202020204" pitchFamily="34" charset="0"/>
              </a:rPr>
              <a:t>core</a:t>
            </a:r>
            <a:r>
              <a:rPr lang="es-ES" sz="1200" dirty="0">
                <a:latin typeface="Arial" panose="020B0604020202020204" pitchFamily="34" charset="0"/>
                <a:cs typeface="Arial" panose="020B0604020202020204" pitchFamily="34" charset="0"/>
              </a:rPr>
              <a:t>. Esto es así porque al aumentar el orden modal, aumenta la componente transversal 𝑘𝑦​, lo que reduce la constante de propagación β. Al disminuir β, el índice efectivo se aproxima al índice del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debilitando el confinamiento.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Observando el último </a:t>
            </a:r>
            <a:r>
              <a:rPr lang="es-ES" sz="1200" dirty="0" err="1">
                <a:latin typeface="Arial" panose="020B0604020202020204" pitchFamily="34" charset="0"/>
                <a:cs typeface="Arial" panose="020B0604020202020204" pitchFamily="34" charset="0"/>
              </a:rPr>
              <a:t>plot</a:t>
            </a:r>
            <a:r>
              <a:rPr lang="es-ES" sz="1200" dirty="0">
                <a:latin typeface="Arial" panose="020B0604020202020204" pitchFamily="34" charset="0"/>
                <a:cs typeface="Arial" panose="020B0604020202020204" pitchFamily="34" charset="0"/>
              </a:rPr>
              <a:t>, se aprecia el campo casi radiado. Es decir, el campo está muy extendido. Esto ocurre porque el índice efectivo del modo se aproxima al índice del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acercándose a la condición de corte. Cuando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a:t>
            </a:r>
            <a:r>
              <a:rPr lang="es-ES" sz="1200" dirty="0" err="1">
                <a:latin typeface="Arial" panose="020B0604020202020204" pitchFamily="34" charset="0"/>
                <a:cs typeface="Arial" panose="020B0604020202020204" pitchFamily="34" charset="0"/>
              </a:rPr>
              <a:t>nclad</a:t>
            </a:r>
            <a:r>
              <a:rPr lang="es-ES" sz="1200" dirty="0">
                <a:latin typeface="Arial" panose="020B0604020202020204" pitchFamily="34" charset="0"/>
                <a:cs typeface="Arial" panose="020B0604020202020204" pitchFamily="34" charset="0"/>
              </a:rPr>
              <a:t>, el modo deja de estar fuertemente guiado, por lo que el modo está próximo al </a:t>
            </a:r>
            <a:r>
              <a:rPr lang="es-ES" sz="1200" dirty="0" err="1">
                <a:latin typeface="Arial" panose="020B0604020202020204" pitchFamily="34" charset="0"/>
                <a:cs typeface="Arial" panose="020B0604020202020204" pitchFamily="34" charset="0"/>
              </a:rPr>
              <a:t>cut</a:t>
            </a:r>
            <a:r>
              <a:rPr lang="es-ES" sz="1200" dirty="0">
                <a:latin typeface="Arial" panose="020B0604020202020204" pitchFamily="34" charset="0"/>
                <a:cs typeface="Arial" panose="020B0604020202020204" pitchFamily="34" charset="0"/>
              </a:rPr>
              <a:t>-off, y por eso el campo se expande significativamente en 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7" name="Imagen 6" descr="Gráfico&#10;&#10;El contenido generado por IA puede ser incorrecto.">
            <a:extLst>
              <a:ext uri="{FF2B5EF4-FFF2-40B4-BE49-F238E27FC236}">
                <a16:creationId xmlns:a16="http://schemas.microsoft.com/office/drawing/2014/main" id="{0864B472-10FC-F601-13DC-46426A8987E8}"/>
              </a:ext>
            </a:extLst>
          </p:cNvPr>
          <p:cNvPicPr>
            <a:picLocks noChangeAspect="1"/>
          </p:cNvPicPr>
          <p:nvPr/>
        </p:nvPicPr>
        <p:blipFill>
          <a:blip r:embed="rId5"/>
          <a:stretch>
            <a:fillRect/>
          </a:stretch>
        </p:blipFill>
        <p:spPr>
          <a:xfrm>
            <a:off x="217271" y="210542"/>
            <a:ext cx="5314950" cy="3576331"/>
          </a:xfrm>
          <a:prstGeom prst="rect">
            <a:avLst/>
          </a:prstGeom>
        </p:spPr>
      </p:pic>
      <p:pic>
        <p:nvPicPr>
          <p:cNvPr id="10" name="Imagen 9" descr="Gráfico, Histograma&#10;&#10;El contenido generado por IA puede ser incorrecto.">
            <a:extLst>
              <a:ext uri="{FF2B5EF4-FFF2-40B4-BE49-F238E27FC236}">
                <a16:creationId xmlns:a16="http://schemas.microsoft.com/office/drawing/2014/main" id="{08CE8B3C-E5D8-303F-D9AF-BE905222C88D}"/>
              </a:ext>
            </a:extLst>
          </p:cNvPr>
          <p:cNvPicPr>
            <a:picLocks noChangeAspect="1"/>
          </p:cNvPicPr>
          <p:nvPr/>
        </p:nvPicPr>
        <p:blipFill>
          <a:blip r:embed="rId6"/>
          <a:stretch>
            <a:fillRect/>
          </a:stretch>
        </p:blipFill>
        <p:spPr>
          <a:xfrm>
            <a:off x="6606214" y="440628"/>
            <a:ext cx="5461591" cy="3600947"/>
          </a:xfrm>
          <a:prstGeom prst="rect">
            <a:avLst/>
          </a:prstGeom>
        </p:spPr>
      </p:pic>
    </p:spTree>
    <p:extLst>
      <p:ext uri="{BB962C8B-B14F-4D97-AF65-F5344CB8AC3E}">
        <p14:creationId xmlns:p14="http://schemas.microsoft.com/office/powerpoint/2010/main" val="218082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94899" y="4230092"/>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ambos casos, el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disminuye al aumentar la longitud de onda. Los modos superiores están más cerca del índice del </a:t>
            </a:r>
            <a:r>
              <a:rPr lang="es-ES" sz="1200" dirty="0" err="1">
                <a:latin typeface="Arial" panose="020B0604020202020204" pitchFamily="34" charset="0"/>
                <a:cs typeface="Arial" panose="020B0604020202020204" pitchFamily="34" charset="0"/>
              </a:rPr>
              <a:t>SiO</a:t>
            </a:r>
            <a:r>
              <a:rPr lang="es-ES" sz="1200" dirty="0">
                <a:latin typeface="Arial" panose="020B0604020202020204" pitchFamily="34" charset="0"/>
                <a:cs typeface="Arial" panose="020B0604020202020204" pitchFamily="34" charset="0"/>
              </a:rPr>
              <a:t>₂. Esto es así porque al aumentar la longitud de onda, el modo se expande transversalmente y el confinamiento disminuye. Como consecuencia, una mayor fracción del campo se propaga en el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SiO</a:t>
            </a:r>
            <a:r>
              <a:rPr lang="es-ES" sz="1200" dirty="0">
                <a:latin typeface="Arial" panose="020B0604020202020204" pitchFamily="34" charset="0"/>
                <a:cs typeface="Arial" panose="020B0604020202020204" pitchFamily="34" charset="0"/>
              </a:rPr>
              <a:t>₂), reduciendo el índice efectivo.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Mientras que en la guía Deep solo aparecen 2 modos guiados, en el caso de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se observan cuatro modos guiados dentro del rango de longitudes de onda analizado. Esto indica que la estructura opera en régimen multimodo, ya que admite varios modos de propagación simultáneamente. Esto se debe a que el confinamiento óptico es menor y la estructura efectiva es más ancha, lo que permite que existan más soluciones modales</a:t>
            </a:r>
            <a:endParaRPr lang="en-US" sz="12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dirty="0"/>
              <a:t>shallow</a:t>
            </a:r>
            <a:r>
              <a:rPr lang="en-US" dirty="0"/>
              <a:t> waveguide</a:t>
            </a:r>
          </a:p>
          <a:p>
            <a:pPr algn="ctr"/>
            <a:endParaRPr lang="en-US" dirty="0"/>
          </a:p>
          <a:p>
            <a:pPr algn="ctr"/>
            <a:r>
              <a:rPr lang="en-US" dirty="0"/>
              <a:t>Paste plot here</a:t>
            </a:r>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dirty="0"/>
              <a:t>deep</a:t>
            </a:r>
            <a:r>
              <a:rPr lang="en-US" dirty="0"/>
              <a:t> waveguide</a:t>
            </a:r>
          </a:p>
          <a:p>
            <a:pPr algn="ctr"/>
            <a:endParaRPr lang="en-US" dirty="0"/>
          </a:p>
          <a:p>
            <a:pPr algn="ctr"/>
            <a:r>
              <a:rPr lang="en-US" dirty="0"/>
              <a:t>Paste plot here</a:t>
            </a:r>
          </a:p>
        </p:txBody>
      </p:sp>
      <p:pic>
        <p:nvPicPr>
          <p:cNvPr id="10" name="Imagen 9" descr="Gráfico, Gráfico de líneas&#10;&#10;El contenido generado por IA puede ser incorrecto.">
            <a:extLst>
              <a:ext uri="{FF2B5EF4-FFF2-40B4-BE49-F238E27FC236}">
                <a16:creationId xmlns:a16="http://schemas.microsoft.com/office/drawing/2014/main" id="{BFAB404B-A0EE-2792-A3A3-BEE2FCF04BF2}"/>
              </a:ext>
            </a:extLst>
          </p:cNvPr>
          <p:cNvPicPr>
            <a:picLocks noChangeAspect="1"/>
          </p:cNvPicPr>
          <p:nvPr/>
        </p:nvPicPr>
        <p:blipFill>
          <a:blip r:embed="rId5"/>
          <a:stretch>
            <a:fillRect/>
          </a:stretch>
        </p:blipFill>
        <p:spPr>
          <a:xfrm>
            <a:off x="6362700" y="764955"/>
            <a:ext cx="5829300" cy="3400425"/>
          </a:xfrm>
          <a:prstGeom prst="rect">
            <a:avLst/>
          </a:prstGeom>
        </p:spPr>
      </p:pic>
      <p:pic>
        <p:nvPicPr>
          <p:cNvPr id="14" name="Imagen 13" descr="Gráfico, Gráfico de líneas&#10;&#10;El contenido generado por IA puede ser incorrecto.">
            <a:extLst>
              <a:ext uri="{FF2B5EF4-FFF2-40B4-BE49-F238E27FC236}">
                <a16:creationId xmlns:a16="http://schemas.microsoft.com/office/drawing/2014/main" id="{A4FDB385-F905-6870-42F8-6F2F8E586A10}"/>
              </a:ext>
            </a:extLst>
          </p:cNvPr>
          <p:cNvPicPr>
            <a:picLocks noChangeAspect="1"/>
          </p:cNvPicPr>
          <p:nvPr/>
        </p:nvPicPr>
        <p:blipFill>
          <a:blip r:embed="rId6"/>
          <a:stretch>
            <a:fillRect/>
          </a:stretch>
        </p:blipFill>
        <p:spPr>
          <a:xfrm>
            <a:off x="272890" y="764603"/>
            <a:ext cx="5830503" cy="3401127"/>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11A4-CDA9-D6E3-F7D3-20F0AD9E140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C27AAD6-FC9A-4E8B-885B-4DBB1AE00EBC}"/>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DF5E6AE6-919B-1A27-7706-68F0CF1171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64E08B-5B48-ABC7-23A8-01A48B84DFF3}"/>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62B02BE3-D7E9-BA78-274B-7A1C488E65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pic>
        <p:nvPicPr>
          <p:cNvPr id="5" name="Imagen 4" descr="Gráfico, Gráfico de líneas&#10;&#10;El contenido generado por IA puede ser incorrecto.">
            <a:extLst>
              <a:ext uri="{FF2B5EF4-FFF2-40B4-BE49-F238E27FC236}">
                <a16:creationId xmlns:a16="http://schemas.microsoft.com/office/drawing/2014/main" id="{9A35AED0-3368-4007-9E8A-0AFB88A09835}"/>
              </a:ext>
            </a:extLst>
          </p:cNvPr>
          <p:cNvPicPr>
            <a:picLocks noChangeAspect="1"/>
          </p:cNvPicPr>
          <p:nvPr/>
        </p:nvPicPr>
        <p:blipFill>
          <a:blip r:embed="rId5"/>
          <a:stretch>
            <a:fillRect/>
          </a:stretch>
        </p:blipFill>
        <p:spPr>
          <a:xfrm>
            <a:off x="2792105" y="1455012"/>
            <a:ext cx="6781800" cy="3947975"/>
          </a:xfrm>
          <a:prstGeom prst="rect">
            <a:avLst/>
          </a:prstGeom>
        </p:spPr>
      </p:pic>
    </p:spTree>
    <p:extLst>
      <p:ext uri="{BB962C8B-B14F-4D97-AF65-F5344CB8AC3E}">
        <p14:creationId xmlns:p14="http://schemas.microsoft.com/office/powerpoint/2010/main" val="4254487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0" y="1136087"/>
            <a:ext cx="11199971" cy="5355312"/>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El índice efectivo de todos los modos aumenta con la anchura de la guía de ondas. Este comportamiento es previsible, ya que una mayor anchura del núcleo mejora el confinamiento transversal, lo que reduce la penetración del campo en el revestimiento y aumenta la fracción de energía guiada dentro de la región del material. Como resultado, el índice efectivo se aproxima al índice del núcleo a medida que aumenta la anchura.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Los modos fundamentales (TE0): Son los modos más simples (tienen un sólo lóbulo central de energía). Como concentran su energía mucho mejor en el centro exacto de la guía, su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es naturalmente más alto. Por eso, aguantan propagándose en guías muy estrechitas sin llegar al corte. A medida que tomamos modos superiores, tienen formas más complejas (tienen varios lóbulos separados por puntos donde la luz vale cero) por lo que necesitan más espacio físico para "existir". A anchuras pequeñas, simplemente no caben en el núcleo, casi toda su energía se sale al revestimiento, su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se desploma por debajo de </a:t>
            </a:r>
            <a:r>
              <a:rPr lang="es-ES" sz="1200" dirty="0" err="1">
                <a:latin typeface="Arial" panose="020B0604020202020204" pitchFamily="34" charset="0"/>
                <a:cs typeface="Arial" panose="020B0604020202020204" pitchFamily="34" charset="0"/>
              </a:rPr>
              <a:t>ncladding</a:t>
            </a:r>
            <a:r>
              <a:rPr lang="es-ES" sz="1200" dirty="0">
                <a:latin typeface="Arial" panose="020B0604020202020204" pitchFamily="34" charset="0"/>
                <a:cs typeface="Arial" panose="020B0604020202020204" pitchFamily="34" charset="0"/>
              </a:rPr>
              <a:t> y no se propagan. Solo cuando la guía es lo suficientemente ancha, estos modos complejos encuentran el espacio físico necesario para confinarse en el núcleo, su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sube por encima del de revestimiento y, pueden empezar a propagarse</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Teniendo en cuenta lo anterior: Los modos de orden superior muestran valores de índice efectivo cercanos al índice del revestimiento para anchuras pequeñas, lo que indica proximidad a la condición de corte. A medida que aumenta la anchura, estos modos se alejan del corte y se guían con mayor intensidad. Esto confirma que el número de modos admitidos aumenta con la anchura de la guía de ondas. Matemáticamente, como el número de modos TE es el entero más pequeño mayor que (</a:t>
            </a:r>
            <a:r>
              <a:rPr lang="es-ES" sz="1200" dirty="0" err="1">
                <a:latin typeface="Arial" panose="020B0604020202020204" pitchFamily="34" charset="0"/>
                <a:cs typeface="Arial" panose="020B0604020202020204" pitchFamily="34" charset="0"/>
              </a:rPr>
              <a:t>sigt</a:t>
            </a:r>
            <a:r>
              <a:rPr lang="es-ES" sz="1200" dirty="0">
                <a:latin typeface="Arial" panose="020B0604020202020204" pitchFamily="34" charset="0"/>
                <a:cs typeface="Arial" panose="020B0604020202020204" pitchFamily="34" charset="0"/>
              </a:rPr>
              <a:t>): </a:t>
            </a:r>
          </a:p>
          <a:p>
            <a:pPr algn="just"/>
            <a:r>
              <a:rPr lang="es-ES" sz="1200" dirty="0">
                <a:latin typeface="Arial" panose="020B0604020202020204" pitchFamily="34" charset="0"/>
                <a:cs typeface="Arial" panose="020B0604020202020204" pitchFamily="34" charset="0"/>
              </a:rPr>
              <a:t>M=</a:t>
            </a:r>
            <a:r>
              <a:rPr lang="es-ES" sz="1200" dirty="0" err="1">
                <a:latin typeface="Arial" panose="020B0604020202020204" pitchFamily="34" charset="0"/>
                <a:cs typeface="Arial" panose="020B0604020202020204" pitchFamily="34" charset="0"/>
              </a:rPr>
              <a:t>sigt</a:t>
            </a:r>
            <a:r>
              <a:rPr lang="es-ES"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sin 𝜃_c / (</a:t>
            </a:r>
            <a:r>
              <a:rPr lang="el-GR" dirty="0"/>
              <a:t> λ</a:t>
            </a:r>
            <a:r>
              <a:rPr lang="es-ES" dirty="0"/>
              <a:t>/2d)</a:t>
            </a:r>
            <a:r>
              <a:rPr lang="es-ES" sz="1200" dirty="0">
                <a:latin typeface="Arial" panose="020B0604020202020204" pitchFamily="34" charset="0"/>
                <a:cs typeface="Arial" panose="020B0604020202020204" pitchFamily="34" charset="0"/>
              </a:rPr>
              <a:t>]. Es decir, hay una relación directa entre el aumento de la anchura y el número de modos que se propagan</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análisis de polarización muestra una estructura alterna de tipo TE y TM. La polarización dominante de cada modo permanece estable a lo largo del barrido de anchura, lo que indica que la geometría afecta principalmente a la fuerza de confinamiento y no a la simetría de polarización modal: </a:t>
            </a:r>
          </a:p>
          <a:p>
            <a:pPr algn="just"/>
            <a:r>
              <a:rPr lang="es-ES" sz="1200" dirty="0">
                <a:latin typeface="Arial" panose="020B0604020202020204" pitchFamily="34" charset="0"/>
                <a:cs typeface="Arial" panose="020B0604020202020204" pitchFamily="34" charset="0"/>
              </a:rPr>
              <a:t>Modo 0 -&gt; rojo -&gt; TE; Modo 1 -&gt; Azul -&gt; TM; Modo 2 -&gt; rojo -&gt; TE; Modo 3 -&gt; azul -&gt; TM (Con el color de los puntos sabemos la polarización)</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identificación de los modos en la gráfica de dispersión se justifica mediante la asimetría geométrica de la guía de onda y la dirección de polarización de los campos. La altura de la guía se mantiene constante, mientras que la anchura varía. El modo TE0, cuyo campo eléctrico oscila en el plano horizontal, es altamente sensible a los cambios de anchura. Por ello, su índice efectivo experimenta un crecimiento pronunciado a medida que la guía se ensancha, alcanzando los valores máximos de la gráfica. Por el contrario, el modo TM0 oscila verticalmente y su confinamiento está dictado principalmente por la altura fija de la guía. </a:t>
            </a:r>
          </a:p>
          <a:p>
            <a:pPr algn="just"/>
            <a:r>
              <a:rPr lang="es-ES" sz="1200" dirty="0">
                <a:latin typeface="Arial" panose="020B0604020202020204" pitchFamily="34" charset="0"/>
                <a:cs typeface="Arial" panose="020B0604020202020204" pitchFamily="34" charset="0"/>
              </a:rPr>
              <a:t>Las curvas que aparecen a mayores anchuras con valores de </a:t>
            </a:r>
            <a:r>
              <a:rPr lang="es-ES" sz="1200" dirty="0" err="1">
                <a:latin typeface="Arial" panose="020B0604020202020204" pitchFamily="34" charset="0"/>
                <a:cs typeface="Arial" panose="020B0604020202020204" pitchFamily="34" charset="0"/>
              </a:rPr>
              <a:t>n_eff</a:t>
            </a:r>
            <a:r>
              <a:rPr lang="es-ES" sz="1200" dirty="0">
                <a:latin typeface="Arial" panose="020B0604020202020204" pitchFamily="34" charset="0"/>
                <a:cs typeface="Arial" panose="020B0604020202020204" pitchFamily="34" charset="0"/>
              </a:rPr>
              <a:t> inferiores corresponden a los modos de orden superior (TE1, TM1, etc.), los cuales requieren dimensiones mayores para superar su condición de corte.</a:t>
            </a:r>
          </a:p>
        </p:txBody>
      </p:sp>
    </p:spTree>
    <p:extLst>
      <p:ext uri="{BB962C8B-B14F-4D97-AF65-F5344CB8AC3E}">
        <p14:creationId xmlns:p14="http://schemas.microsoft.com/office/powerpoint/2010/main" val="2900117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A440F587-93A3-E474-C0B0-883BB9DAFD85}"/>
              </a:ext>
            </a:extLst>
          </p:cNvPr>
          <p:cNvSpPr txBox="1"/>
          <p:nvPr/>
        </p:nvSpPr>
        <p:spPr>
          <a:xfrm>
            <a:off x="609600" y="1439261"/>
            <a:ext cx="11198542" cy="5078313"/>
          </a:xfrm>
          <a:prstGeom prst="rect">
            <a:avLst/>
          </a:prstGeom>
          <a:solidFill>
            <a:schemeClr val="bg1">
              <a:lumMod val="95000"/>
            </a:schemeClr>
          </a:solidFill>
          <a:ln w="28575">
            <a:solidFill>
              <a:srgbClr val="E0700D"/>
            </a:solidFill>
          </a:ln>
        </p:spPr>
        <p:txBody>
          <a:bodyPr wrap="square" rtlCol="0">
            <a:spAutoFit/>
          </a:bodyPr>
          <a:lstStyle/>
          <a:p>
            <a:pPr algn="just"/>
            <a:r>
              <a:rPr lang="en-US" sz="1200" b="0" dirty="0">
                <a:latin typeface="Arial" panose="020B0604020202020204" pitchFamily="34" charset="0"/>
                <a:cs typeface="Arial" panose="020B0604020202020204" pitchFamily="34" charset="0"/>
              </a:rPr>
              <a:t>Los </a:t>
            </a:r>
            <a:r>
              <a:rPr lang="en-US" sz="1200" b="0" dirty="0" err="1">
                <a:latin typeface="Arial" panose="020B0604020202020204" pitchFamily="34" charset="0"/>
                <a:cs typeface="Arial" panose="020B0604020202020204" pitchFamily="34" charset="0"/>
              </a:rPr>
              <a:t>resulta</a:t>
            </a:r>
            <a:r>
              <a:rPr lang="en-US" sz="1200" dirty="0" err="1">
                <a:latin typeface="Arial" panose="020B0604020202020204" pitchFamily="34" charset="0"/>
                <a:cs typeface="Arial" panose="020B0604020202020204" pitchFamily="34" charset="0"/>
              </a:rPr>
              <a:t>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obtenidos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muestran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continuación</a:t>
            </a:r>
            <a:endParaRPr lang="es-ES" sz="1200" b="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b="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En ambos </a:t>
            </a:r>
            <a:r>
              <a:rPr lang="en-US" sz="1200" dirty="0" err="1">
                <a:latin typeface="Arial" panose="020B0604020202020204" pitchFamily="34" charset="0"/>
                <a:cs typeface="Arial" panose="020B0604020202020204" pitchFamily="34" charset="0"/>
              </a:rPr>
              <a:t>casos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del modo TE0 es superior al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del modo TM0: </a:t>
            </a:r>
            <a:r>
              <a:rPr lang="es-ES" sz="1200" dirty="0">
                <a:latin typeface="Arial" panose="020B0604020202020204" pitchFamily="34" charset="0"/>
                <a:cs typeface="Arial" panose="020B0604020202020204" pitchFamily="34" charset="0"/>
              </a:rPr>
              <a:t>al ser la guía muy ancha (1.2 µm) pero bajita (300 nm), el modo TE0 tiene su campo eléctrico oscilando en la dirección horizontal, por lo que "ve" mucho silicio (1.2 µm de anchura) y está excelentemente confinado. El modo TM0 oscila en vertical, donde solo hay 300 nm de silicio, por lo que su confinamiento es mucho menor y su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cae drásticamente.</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Además, dado que el índice efectivo se define a través de la constante de propagación como 𝛽=𝑘0𝑛</a:t>
            </a:r>
            <a:r>
              <a:rPr lang="es-ES" sz="1200" dirty="0" err="1">
                <a:latin typeface="Arial" panose="020B0604020202020204" pitchFamily="34" charset="0"/>
                <a:cs typeface="Arial" panose="020B0604020202020204" pitchFamily="34" charset="0"/>
              </a:rPr>
              <a:t>eff</a:t>
            </a:r>
            <a:r>
              <a:rPr lang="es-ES" sz="1200" dirty="0">
                <a:latin typeface="Arial" panose="020B0604020202020204" pitchFamily="34" charset="0"/>
                <a:cs typeface="Arial" panose="020B0604020202020204" pitchFamily="34" charset="0"/>
              </a:rPr>
              <a:t>​, teniendo en cuenta que un modo estará guiado siempre que se cumpla </a:t>
            </a:r>
            <a:r>
              <a:rPr lang="es-ES" sz="1200" dirty="0" err="1">
                <a:latin typeface="Arial" panose="020B0604020202020204" pitchFamily="34" charset="0"/>
                <a:cs typeface="Arial" panose="020B0604020202020204" pitchFamily="34" charset="0"/>
              </a:rPr>
              <a:t>nclad</a:t>
            </a:r>
            <a:r>
              <a:rPr lang="es-ES" sz="1200" dirty="0">
                <a:latin typeface="Arial" panose="020B0604020202020204" pitchFamily="34" charset="0"/>
                <a:cs typeface="Arial" panose="020B0604020202020204" pitchFamily="34" charset="0"/>
              </a:rPr>
              <a:t>​&lt;</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​&lt;</a:t>
            </a:r>
            <a:r>
              <a:rPr lang="es-ES" sz="1200" dirty="0" err="1">
                <a:latin typeface="Arial" panose="020B0604020202020204" pitchFamily="34" charset="0"/>
                <a:cs typeface="Arial" panose="020B0604020202020204" pitchFamily="34" charset="0"/>
              </a:rPr>
              <a:t>ncore</a:t>
            </a:r>
            <a:r>
              <a:rPr lang="es-ES" sz="1200" dirty="0">
                <a:latin typeface="Arial" panose="020B0604020202020204" pitchFamily="34" charset="0"/>
                <a:cs typeface="Arial" panose="020B0604020202020204" pitchFamily="34" charset="0"/>
              </a:rPr>
              <a:t>. Las ecuaciones características para modos TE y TM en una guía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muestran que ambas polarizaciones satisfacen relaciones distintas debido a las condiciones de contorno en la interfaz núcleo–revestimiento. En particular, el modo TM incluye explícitamente la dependencia con los índices de refracción en la ecuación modal, lo que implica una mayor sensibilidad al contraste de índice. Como consecuencia, para una misma geometría, la solución de la ecuación característica proporciona un valor de β (y por tanto de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menor para el modo TM que para el modo TE. Esto explica que neffTE0 sea </a:t>
            </a:r>
          </a:p>
          <a:p>
            <a:pPr algn="just"/>
            <a:r>
              <a:rPr lang="es-ES" sz="1200" dirty="0">
                <a:latin typeface="Arial" panose="020B0604020202020204" pitchFamily="34" charset="0"/>
                <a:cs typeface="Arial" panose="020B0604020202020204" pitchFamily="34" charset="0"/>
              </a:rPr>
              <a:t>superior a neffTM0 en ambas guías analizadas.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Comparando las dos geometrías,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presenta valores ligeramente superiores de índice efectivo debido a la presencia del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que incrementa el confinamiento modal efectivo.</a:t>
            </a:r>
          </a:p>
          <a:p>
            <a:r>
              <a:rPr lang="es-ES" sz="1200" dirty="0">
                <a:latin typeface="Arial" panose="020B0604020202020204" pitchFamily="34" charset="0"/>
                <a:cs typeface="Arial" panose="020B0604020202020204" pitchFamily="34" charset="0"/>
              </a:rPr>
              <a:t>Esta diferencia de índice efectivo también afecta al índice de grupo, dado que 𝑛𝑔=𝑛</a:t>
            </a:r>
            <a:r>
              <a:rPr lang="es-ES" sz="1200" dirty="0" err="1">
                <a:latin typeface="Arial" panose="020B0604020202020204" pitchFamily="34" charset="0"/>
                <a:cs typeface="Arial" panose="020B0604020202020204" pitchFamily="34" charset="0"/>
              </a:rPr>
              <a:t>eff</a:t>
            </a:r>
            <a:r>
              <a:rPr lang="es-ES" sz="1200" dirty="0">
                <a:latin typeface="Arial" panose="020B0604020202020204" pitchFamily="34" charset="0"/>
                <a:cs typeface="Arial" panose="020B0604020202020204" pitchFamily="34" charset="0"/>
              </a:rPr>
              <a:t>−𝜆*𝑑𝑛</a:t>
            </a:r>
            <a:r>
              <a:rPr lang="es-ES" sz="1200" dirty="0" err="1">
                <a:latin typeface="Arial" panose="020B0604020202020204" pitchFamily="34" charset="0"/>
                <a:cs typeface="Arial" panose="020B0604020202020204" pitchFamily="34" charset="0"/>
              </a:rPr>
              <a:t>eff</a:t>
            </a:r>
            <a:r>
              <a:rPr lang="es-ES" sz="1200" dirty="0">
                <a:latin typeface="Arial" panose="020B0604020202020204" pitchFamily="34" charset="0"/>
                <a:cs typeface="Arial" panose="020B0604020202020204" pitchFamily="34" charset="0"/>
              </a:rPr>
              <a:t>/𝑑𝜆​, el modo menos confinado presenta una mayor sensibilidad espectral, lo que se traduce en valores distintos de ng. En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la presencia del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incrementa el confinamiento modal efectivo y modifica la distribución del campo, produciendo ligeras variaciones tanto en el índice efectivo como en la dispersión respecto a la guía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Esto confirma que la dispersión no es únicamente material, sino que contiene una contribución geométrica significativa dependiente de la estructura.</a:t>
            </a:r>
            <a:endParaRPr lang="en-US" sz="1200" dirty="0">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512D461D-7FBA-EB5B-1467-5BA1E3A9FB6F}"/>
              </a:ext>
            </a:extLst>
          </p:cNvPr>
          <p:cNvGraphicFramePr>
            <a:graphicFrameLocks noGrp="1"/>
          </p:cNvGraphicFramePr>
          <p:nvPr>
            <p:extLst>
              <p:ext uri="{D42A27DB-BD31-4B8C-83A1-F6EECF244321}">
                <p14:modId xmlns:p14="http://schemas.microsoft.com/office/powerpoint/2010/main" val="1884112448"/>
              </p:ext>
            </p:extLst>
          </p:nvPr>
        </p:nvGraphicFramePr>
        <p:xfrm>
          <a:off x="685800" y="1806702"/>
          <a:ext cx="8991601" cy="1469900"/>
        </p:xfrm>
        <a:graphic>
          <a:graphicData uri="http://schemas.openxmlformats.org/drawingml/2006/table">
            <a:tbl>
              <a:tblPr firstRow="1" bandRow="1">
                <a:tableStyleId>{5C22544A-7EE6-4342-B048-85BDC9FD1C3A}</a:tableStyleId>
              </a:tblPr>
              <a:tblGrid>
                <a:gridCol w="1811741">
                  <a:extLst>
                    <a:ext uri="{9D8B030D-6E8A-4147-A177-3AD203B41FA5}">
                      <a16:colId xmlns:a16="http://schemas.microsoft.com/office/drawing/2014/main" val="720325921"/>
                    </a:ext>
                  </a:extLst>
                </a:gridCol>
                <a:gridCol w="1811741">
                  <a:extLst>
                    <a:ext uri="{9D8B030D-6E8A-4147-A177-3AD203B41FA5}">
                      <a16:colId xmlns:a16="http://schemas.microsoft.com/office/drawing/2014/main" val="4102374390"/>
                    </a:ext>
                  </a:extLst>
                </a:gridCol>
                <a:gridCol w="1789373">
                  <a:extLst>
                    <a:ext uri="{9D8B030D-6E8A-4147-A177-3AD203B41FA5}">
                      <a16:colId xmlns:a16="http://schemas.microsoft.com/office/drawing/2014/main" val="4083096405"/>
                    </a:ext>
                  </a:extLst>
                </a:gridCol>
                <a:gridCol w="1789373">
                  <a:extLst>
                    <a:ext uri="{9D8B030D-6E8A-4147-A177-3AD203B41FA5}">
                      <a16:colId xmlns:a16="http://schemas.microsoft.com/office/drawing/2014/main" val="2958427189"/>
                    </a:ext>
                  </a:extLst>
                </a:gridCol>
                <a:gridCol w="1789373">
                  <a:extLst>
                    <a:ext uri="{9D8B030D-6E8A-4147-A177-3AD203B41FA5}">
                      <a16:colId xmlns:a16="http://schemas.microsoft.com/office/drawing/2014/main" val="3942011101"/>
                    </a:ext>
                  </a:extLst>
                </a:gridCol>
              </a:tblGrid>
              <a:tr h="367475">
                <a:tc>
                  <a:txBody>
                    <a:bodyPr/>
                    <a:lstStyle/>
                    <a:p>
                      <a:endParaRPr lang="es-ES" sz="1200" dirty="0"/>
                    </a:p>
                  </a:txBody>
                  <a:tcPr/>
                </a:tc>
                <a:tc>
                  <a:txBody>
                    <a:bodyPr/>
                    <a:lstStyle/>
                    <a:p>
                      <a:r>
                        <a:rPr lang="es-ES" sz="1200" dirty="0"/>
                        <a:t>TE0_Deep</a:t>
                      </a:r>
                    </a:p>
                  </a:txBody>
                  <a:tcPr/>
                </a:tc>
                <a:tc>
                  <a:txBody>
                    <a:bodyPr/>
                    <a:lstStyle/>
                    <a:p>
                      <a:r>
                        <a:rPr lang="es-ES" sz="1200" dirty="0"/>
                        <a:t>TM0_Deep</a:t>
                      </a:r>
                    </a:p>
                  </a:txBody>
                  <a:tcPr/>
                </a:tc>
                <a:tc>
                  <a:txBody>
                    <a:bodyPr/>
                    <a:lstStyle/>
                    <a:p>
                      <a:r>
                        <a:rPr lang="es-ES" sz="1200" dirty="0"/>
                        <a:t>TE0_Shallow</a:t>
                      </a:r>
                    </a:p>
                  </a:txBody>
                  <a:tcPr/>
                </a:tc>
                <a:tc>
                  <a:txBody>
                    <a:bodyPr/>
                    <a:lstStyle/>
                    <a:p>
                      <a:r>
                        <a:rPr lang="es-ES" sz="1200" dirty="0"/>
                        <a:t>TM0_Shallow</a:t>
                      </a:r>
                    </a:p>
                  </a:txBody>
                  <a:tcPr/>
                </a:tc>
                <a:extLst>
                  <a:ext uri="{0D108BD9-81ED-4DB2-BD59-A6C34878D82A}">
                    <a16:rowId xmlns:a16="http://schemas.microsoft.com/office/drawing/2014/main" val="1773465334"/>
                  </a:ext>
                </a:extLst>
              </a:tr>
              <a:tr h="367475">
                <a:tc>
                  <a:txBody>
                    <a:bodyPr/>
                    <a:lstStyle/>
                    <a:p>
                      <a:r>
                        <a:rPr lang="es-ES" sz="1200" dirty="0" err="1"/>
                        <a:t>neff</a:t>
                      </a:r>
                      <a:r>
                        <a:rPr lang="es-ES" sz="1200" dirty="0"/>
                        <a:t> (1550 nm)</a:t>
                      </a:r>
                    </a:p>
                  </a:txBody>
                  <a:tcPr/>
                </a:tc>
                <a:tc>
                  <a:txBody>
                    <a:bodyPr/>
                    <a:lstStyle/>
                    <a:p>
                      <a:r>
                        <a:rPr lang="es-ES" sz="1200" dirty="0"/>
                        <a:t>1.604916622339265</a:t>
                      </a:r>
                    </a:p>
                  </a:txBody>
                  <a:tcPr/>
                </a:tc>
                <a:tc>
                  <a:txBody>
                    <a:bodyPr/>
                    <a:lstStyle/>
                    <a:p>
                      <a:r>
                        <a:rPr lang="es-ES" sz="1200" dirty="0"/>
                        <a:t>1.5271892331371808</a:t>
                      </a:r>
                    </a:p>
                  </a:txBody>
                  <a:tcPr/>
                </a:tc>
                <a:tc>
                  <a:txBody>
                    <a:bodyPr/>
                    <a:lstStyle/>
                    <a:p>
                      <a:r>
                        <a:rPr lang="es-ES" sz="1200" b="0" i="0" dirty="0">
                          <a:solidFill>
                            <a:schemeClr val="dk1"/>
                          </a:solidFill>
                          <a:effectLst/>
                          <a:latin typeface="+mn-lt"/>
                          <a:ea typeface="+mn-ea"/>
                          <a:cs typeface="+mn-cs"/>
                        </a:rPr>
                        <a:t>1.6240906268017514</a:t>
                      </a:r>
                      <a:endParaRPr lang="es-ES" sz="1200" dirty="0"/>
                    </a:p>
                  </a:txBody>
                  <a:tcPr/>
                </a:tc>
                <a:tc>
                  <a:txBody>
                    <a:bodyPr/>
                    <a:lstStyle/>
                    <a:p>
                      <a:r>
                        <a:rPr lang="es-ES" sz="1200" b="0" i="0" dirty="0">
                          <a:solidFill>
                            <a:schemeClr val="dk1"/>
                          </a:solidFill>
                          <a:effectLst/>
                          <a:latin typeface="+mn-lt"/>
                          <a:ea typeface="+mn-ea"/>
                          <a:cs typeface="+mn-cs"/>
                        </a:rPr>
                        <a:t>1.5271892331371808</a:t>
                      </a:r>
                      <a:endParaRPr lang="es-ES" sz="1200" dirty="0"/>
                    </a:p>
                  </a:txBody>
                  <a:tcPr/>
                </a:tc>
                <a:extLst>
                  <a:ext uri="{0D108BD9-81ED-4DB2-BD59-A6C34878D82A}">
                    <a16:rowId xmlns:a16="http://schemas.microsoft.com/office/drawing/2014/main" val="1797841586"/>
                  </a:ext>
                </a:extLst>
              </a:tr>
              <a:tr h="367475">
                <a:tc>
                  <a:txBody>
                    <a:bodyPr/>
                    <a:lstStyle/>
                    <a:p>
                      <a:r>
                        <a:rPr lang="es-ES" sz="1200" dirty="0"/>
                        <a:t>ng</a:t>
                      </a:r>
                    </a:p>
                  </a:txBody>
                  <a:tcPr/>
                </a:tc>
                <a:tc>
                  <a:txBody>
                    <a:bodyPr/>
                    <a:lstStyle/>
                    <a:p>
                      <a:r>
                        <a:rPr lang="es-ES" sz="1200" dirty="0"/>
                        <a:t>1.939993860241449</a:t>
                      </a:r>
                    </a:p>
                  </a:txBody>
                  <a:tcPr/>
                </a:tc>
                <a:tc>
                  <a:txBody>
                    <a:bodyPr/>
                    <a:lstStyle/>
                    <a:p>
                      <a:r>
                        <a:rPr lang="es-ES" sz="1200" dirty="0"/>
                        <a:t>1.7721028946948656</a:t>
                      </a:r>
                    </a:p>
                  </a:txBody>
                  <a:tcPr/>
                </a:tc>
                <a:tc>
                  <a:txBody>
                    <a:bodyPr/>
                    <a:lstStyle/>
                    <a:p>
                      <a:r>
                        <a:rPr lang="es-ES" sz="1200" b="0" i="0" dirty="0">
                          <a:solidFill>
                            <a:schemeClr val="dk1"/>
                          </a:solidFill>
                          <a:effectLst/>
                          <a:latin typeface="+mn-lt"/>
                          <a:ea typeface="+mn-ea"/>
                          <a:cs typeface="+mn-cs"/>
                        </a:rPr>
                        <a:t>1.915777263747942</a:t>
                      </a:r>
                      <a:endParaRPr lang="es-ES" sz="1200" dirty="0"/>
                    </a:p>
                  </a:txBody>
                  <a:tcPr/>
                </a:tc>
                <a:tc>
                  <a:txBody>
                    <a:bodyPr/>
                    <a:lstStyle/>
                    <a:p>
                      <a:r>
                        <a:rPr lang="es-ES" sz="1200" b="0" i="0" dirty="0">
                          <a:solidFill>
                            <a:schemeClr val="dk1"/>
                          </a:solidFill>
                          <a:effectLst/>
                          <a:latin typeface="+mn-lt"/>
                          <a:ea typeface="+mn-ea"/>
                          <a:cs typeface="+mn-cs"/>
                        </a:rPr>
                        <a:t>1.7721028946948656</a:t>
                      </a:r>
                      <a:endParaRPr lang="es-ES" sz="1200" dirty="0"/>
                    </a:p>
                  </a:txBody>
                  <a:tcPr/>
                </a:tc>
                <a:extLst>
                  <a:ext uri="{0D108BD9-81ED-4DB2-BD59-A6C34878D82A}">
                    <a16:rowId xmlns:a16="http://schemas.microsoft.com/office/drawing/2014/main" val="3432016214"/>
                  </a:ext>
                </a:extLst>
              </a:tr>
              <a:tr h="367475">
                <a:tc>
                  <a:txBody>
                    <a:bodyPr/>
                    <a:lstStyle/>
                    <a:p>
                      <a:r>
                        <a:rPr lang="es-ES" sz="1200" dirty="0"/>
                        <a:t>D (</a:t>
                      </a:r>
                      <a:r>
                        <a:rPr lang="es-ES" sz="1200" dirty="0" err="1"/>
                        <a:t>ps</a:t>
                      </a:r>
                      <a:r>
                        <a:rPr lang="es-ES" sz="1200" dirty="0"/>
                        <a:t>/(km*nm))</a:t>
                      </a:r>
                    </a:p>
                  </a:txBody>
                  <a:tcPr/>
                </a:tc>
                <a:tc>
                  <a:txBody>
                    <a:bodyPr/>
                    <a:lstStyle/>
                    <a:p>
                      <a:r>
                        <a:rPr lang="es-ES" sz="1200" dirty="0"/>
                        <a:t>-1006.0023603766083</a:t>
                      </a:r>
                    </a:p>
                  </a:txBody>
                  <a:tcPr/>
                </a:tc>
                <a:tc>
                  <a:txBody>
                    <a:bodyPr/>
                    <a:lstStyle/>
                    <a:p>
                      <a:r>
                        <a:rPr lang="es-ES" sz="1200" dirty="0"/>
                        <a:t>-1589.5943604694814</a:t>
                      </a:r>
                    </a:p>
                  </a:txBody>
                  <a:tcPr/>
                </a:tc>
                <a:tc>
                  <a:txBody>
                    <a:bodyPr/>
                    <a:lstStyle/>
                    <a:p>
                      <a:r>
                        <a:rPr lang="es-ES" sz="1200" b="0" i="0" dirty="0">
                          <a:solidFill>
                            <a:schemeClr val="dk1"/>
                          </a:solidFill>
                          <a:effectLst/>
                          <a:latin typeface="+mn-lt"/>
                          <a:ea typeface="+mn-ea"/>
                          <a:cs typeface="+mn-cs"/>
                        </a:rPr>
                        <a:t>-988.8566246784837</a:t>
                      </a:r>
                      <a:endParaRPr lang="es-ES" sz="1200" dirty="0"/>
                    </a:p>
                  </a:txBody>
                  <a:tcPr/>
                </a:tc>
                <a:tc>
                  <a:txBody>
                    <a:bodyPr/>
                    <a:lstStyle/>
                    <a:p>
                      <a:r>
                        <a:rPr lang="es-ES" sz="1200" b="0" i="0">
                          <a:solidFill>
                            <a:schemeClr val="dk1"/>
                          </a:solidFill>
                          <a:effectLst/>
                          <a:latin typeface="+mn-lt"/>
                          <a:ea typeface="+mn-ea"/>
                          <a:cs typeface="+mn-cs"/>
                        </a:rPr>
                        <a:t>-1589.5943604694814</a:t>
                      </a:r>
                      <a:endParaRPr lang="es-ES" sz="1200" dirty="0"/>
                    </a:p>
                  </a:txBody>
                  <a:tcPr/>
                </a:tc>
                <a:extLst>
                  <a:ext uri="{0D108BD9-81ED-4DB2-BD59-A6C34878D82A}">
                    <a16:rowId xmlns:a16="http://schemas.microsoft.com/office/drawing/2014/main" val="3118663672"/>
                  </a:ext>
                </a:extLst>
              </a:tr>
            </a:tbl>
          </a:graphicData>
        </a:graphic>
      </p:graphicFrame>
    </p:spTree>
    <p:extLst>
      <p:ext uri="{BB962C8B-B14F-4D97-AF65-F5344CB8AC3E}">
        <p14:creationId xmlns:p14="http://schemas.microsoft.com/office/powerpoint/2010/main" val="236054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05ED3-F901-36BF-EBA7-3C16CDBED5C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001A2BC-A2D6-2B41-1C86-46324B86A405}"/>
              </a:ext>
            </a:extLst>
          </p:cNvPr>
          <p:cNvSpPr txBox="1">
            <a:spLocks noGrp="1"/>
          </p:cNvSpPr>
          <p:nvPr>
            <p:ph type="title"/>
          </p:nvPr>
        </p:nvSpPr>
        <p:spPr>
          <a:xfrm>
            <a:off x="685800" y="408883"/>
            <a:ext cx="10994410" cy="1320874"/>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r>
              <a:rPr lang="en-US" b="0" dirty="0"/>
              <a:t>			Deep						Shallow</a:t>
            </a:r>
            <a:endParaRPr lang="en-US" sz="2500" b="0" dirty="0">
              <a:latin typeface="+mj-lt"/>
              <a:cs typeface="Lucida Sans"/>
            </a:endParaRPr>
          </a:p>
        </p:txBody>
      </p:sp>
      <p:pic>
        <p:nvPicPr>
          <p:cNvPr id="83" name="Gráfico 82">
            <a:extLst>
              <a:ext uri="{FF2B5EF4-FFF2-40B4-BE49-F238E27FC236}">
                <a16:creationId xmlns:a16="http://schemas.microsoft.com/office/drawing/2014/main" id="{B21EE059-2E2C-487D-392C-BB9327B3C5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8DED133-75C2-45C9-0E10-02310A52A6B4}"/>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E5080F66-D505-5DFF-8614-87501520293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9D17863E-5BBE-3008-9473-A8C7F2168AC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313F845-5556-A304-1862-1DF531020F66}"/>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F6F74D06-4085-116D-82C5-94BCA022047F}"/>
                  </a:ext>
                </a:extLst>
              </p:cNvPr>
              <p:cNvSpPr txBox="1"/>
              <p:nvPr/>
            </p:nvSpPr>
            <p:spPr>
              <a:xfrm>
                <a:off x="609440" y="2709096"/>
                <a:ext cx="5486559"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b="1" dirty="0"/>
                  <a:t>neff_TE0 vs </a:t>
                </a:r>
                <a14:m>
                  <m:oMath xmlns:m="http://schemas.openxmlformats.org/officeDocument/2006/math">
                    <m:r>
                      <a:rPr lang="es-ES" b="1" i="1" smtClean="0">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9" name="CuadroTexto 8">
                <a:extLst>
                  <a:ext uri="{FF2B5EF4-FFF2-40B4-BE49-F238E27FC236}">
                    <a16:creationId xmlns:a16="http://schemas.microsoft.com/office/drawing/2014/main" id="{F6F74D06-4085-116D-82C5-94BCA022047F}"/>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5"/>
                <a:stretch>
                  <a:fillRect t="-2538" r="-556" b="-710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A89B146-B468-11EA-A00C-B165632C73FE}"/>
                  </a:ext>
                </a:extLst>
              </p:cNvPr>
              <p:cNvSpPr txBox="1"/>
              <p:nvPr/>
            </p:nvSpPr>
            <p:spPr>
              <a:xfrm>
                <a:off x="6321421" y="2709096"/>
                <a:ext cx="5486559"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b="1" dirty="0"/>
                  <a:t>neff_TE0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10" name="CuadroTexto 9">
                <a:extLst>
                  <a:ext uri="{FF2B5EF4-FFF2-40B4-BE49-F238E27FC236}">
                    <a16:creationId xmlns:a16="http://schemas.microsoft.com/office/drawing/2014/main" id="{AA89B146-B468-11EA-A00C-B165632C73F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6"/>
                <a:stretch>
                  <a:fillRect t="-2538" r="-556" b="-7107"/>
                </a:stretch>
              </a:blipFill>
            </p:spPr>
            <p:txBody>
              <a:bodyPr/>
              <a:lstStyle/>
              <a:p>
                <a:r>
                  <a:rPr lang="es-ES">
                    <a:noFill/>
                  </a:rPr>
                  <a:t> </a:t>
                </a:r>
              </a:p>
            </p:txBody>
          </p:sp>
        </mc:Fallback>
      </mc:AlternateContent>
      <p:sp>
        <p:nvSpPr>
          <p:cNvPr id="8" name="CuadroTexto 7">
            <a:extLst>
              <a:ext uri="{FF2B5EF4-FFF2-40B4-BE49-F238E27FC236}">
                <a16:creationId xmlns:a16="http://schemas.microsoft.com/office/drawing/2014/main" id="{4A2B3D97-7E41-DCCE-ACD1-4BC11E2CB8CE}"/>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7" name="Imagen 6" descr="Gráfico, Gráfico de líneas&#10;&#10;El contenido generado por IA puede ser incorrecto.">
            <a:extLst>
              <a:ext uri="{FF2B5EF4-FFF2-40B4-BE49-F238E27FC236}">
                <a16:creationId xmlns:a16="http://schemas.microsoft.com/office/drawing/2014/main" id="{8E69D027-5D99-8606-F48E-BAEE18F73C84}"/>
              </a:ext>
            </a:extLst>
          </p:cNvPr>
          <p:cNvPicPr>
            <a:picLocks noChangeAspect="1"/>
          </p:cNvPicPr>
          <p:nvPr/>
        </p:nvPicPr>
        <p:blipFill>
          <a:blip r:embed="rId7"/>
          <a:stretch>
            <a:fillRect/>
          </a:stretch>
        </p:blipFill>
        <p:spPr>
          <a:xfrm>
            <a:off x="6372357" y="1726679"/>
            <a:ext cx="6114995" cy="3034354"/>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42AB13DB-75B7-5F44-2124-BF68121E72C8}"/>
              </a:ext>
            </a:extLst>
          </p:cNvPr>
          <p:cNvPicPr>
            <a:picLocks noChangeAspect="1"/>
          </p:cNvPicPr>
          <p:nvPr/>
        </p:nvPicPr>
        <p:blipFill>
          <a:blip r:embed="rId8"/>
          <a:stretch>
            <a:fillRect/>
          </a:stretch>
        </p:blipFill>
        <p:spPr>
          <a:xfrm>
            <a:off x="358079" y="1918099"/>
            <a:ext cx="5920611" cy="2937898"/>
          </a:xfrm>
          <a:prstGeom prst="rect">
            <a:avLst/>
          </a:prstGeom>
        </p:spPr>
      </p:pic>
    </p:spTree>
    <p:extLst>
      <p:ext uri="{BB962C8B-B14F-4D97-AF65-F5344CB8AC3E}">
        <p14:creationId xmlns:p14="http://schemas.microsoft.com/office/powerpoint/2010/main" val="199923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3576822"/>
            <a:ext cx="11199971" cy="249299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Como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ser </a:t>
            </a:r>
            <a:r>
              <a:rPr lang="en-US" sz="1200" dirty="0" err="1">
                <a:latin typeface="Arial" panose="020B0604020202020204" pitchFamily="34" charset="0"/>
                <a:cs typeface="Arial" panose="020B0604020202020204" pitchFamily="34" charset="0"/>
              </a:rPr>
              <a:t>menores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0.1 dB,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unos</a:t>
            </a:r>
            <a:r>
              <a:rPr lang="en-US" sz="1200" dirty="0">
                <a:latin typeface="Arial" panose="020B0604020202020204" pitchFamily="34" charset="0"/>
                <a:cs typeface="Arial" panose="020B0604020202020204" pitchFamily="34" charset="0"/>
              </a:rPr>
              <a:t> 30 um se </a:t>
            </a:r>
            <a:r>
              <a:rPr lang="en-US" sz="1200" dirty="0" err="1">
                <a:latin typeface="Arial" panose="020B0604020202020204" pitchFamily="34" charset="0"/>
                <a:cs typeface="Arial" panose="020B0604020202020204" pitchFamily="34" charset="0"/>
              </a:rPr>
              <a:t>consigue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dicho</a:t>
            </a:r>
            <a:r>
              <a:rPr lang="en-US" sz="1200" dirty="0">
                <a:latin typeface="Arial" panose="020B0604020202020204" pitchFamily="34" charset="0"/>
                <a:cs typeface="Arial" panose="020B0604020202020204" pitchFamily="34" charset="0"/>
              </a:rPr>
              <a:t> valor.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cuanto a la gráfica de la derecha, se observa que, en general, al aumentar el radio de curvatura el índice efectivo disminuye y tiende a estabilizarse. Cuando el radio de curvatura es pequeño, la curvatura de la guía provoca que el modo óptico se desplace hacia el exterior de la curva. Este efecto modifica la distribución del campo y puede aumentar ligeramente el índice efectivo calculado. Además, las guías muy curvadas presentan mayores pérdidas por radiación, ya que parte del campo deja de estar completamente confinado en el núcleo. A medida que el radio de curvatura aumenta, la guía se aproxima al comportamiento de una guía recta, por lo que el índice efectivo converge hacia el valor correspondiente a la propagación en una sección recta. Esto explica que para radios grandes (100–150 µm) las variaciones de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 sean pequeñas.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7C98CED8-19D8-4227-0334-7F3E9CA3CC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441" y="738797"/>
            <a:ext cx="3599943" cy="2797945"/>
          </a:xfrm>
          <a:prstGeom prst="rect">
            <a:avLst/>
          </a:prstGeom>
        </p:spPr>
      </p:pic>
      <p:pic>
        <p:nvPicPr>
          <p:cNvPr id="6" name="Imagen 5" descr="Gráfico, Gráfico de líneas&#10;&#10;El contenido generado por IA puede ser incorrecto.">
            <a:extLst>
              <a:ext uri="{FF2B5EF4-FFF2-40B4-BE49-F238E27FC236}">
                <a16:creationId xmlns:a16="http://schemas.microsoft.com/office/drawing/2014/main" id="{DBA8ABEF-F282-7A46-D535-44E18B879FBD}"/>
              </a:ext>
            </a:extLst>
          </p:cNvPr>
          <p:cNvPicPr>
            <a:picLocks noChangeAspect="1"/>
          </p:cNvPicPr>
          <p:nvPr/>
        </p:nvPicPr>
        <p:blipFill>
          <a:blip r:embed="rId6"/>
          <a:stretch>
            <a:fillRect/>
          </a:stretch>
        </p:blipFill>
        <p:spPr>
          <a:xfrm>
            <a:off x="7310229" y="855808"/>
            <a:ext cx="4297834" cy="2563925"/>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315C-300D-E828-A300-D2706C35053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51230C2-400F-C11B-0CB1-4CF4D40EC4AC}"/>
              </a:ext>
            </a:extLst>
          </p:cNvPr>
          <p:cNvSpPr txBox="1">
            <a:spLocks noGrp="1"/>
          </p:cNvSpPr>
          <p:nvPr>
            <p:ph type="title"/>
          </p:nvPr>
        </p:nvSpPr>
        <p:spPr>
          <a:xfrm>
            <a:off x="685800" y="408883"/>
            <a:ext cx="10994410" cy="1179810"/>
          </a:xfrm>
          <a:prstGeom prst="rect">
            <a:avLst/>
          </a:prstGeom>
        </p:spPr>
        <p:txBody>
          <a:bodyPr vert="horz" wrap="square" lIns="0" tIns="12700" rIns="0" bIns="0" rtlCol="0" anchor="t">
            <a:spAutoFit/>
          </a:bodyPr>
          <a:lstStyle/>
          <a:p>
            <a:pPr algn="l"/>
            <a:r>
              <a:rPr lang="en-US" sz="2500" b="0">
                <a:ea typeface="Calibri"/>
              </a:rPr>
              <a:t>EXTRA 1. Repeat the LO.2. wavelength behavior simulations, considering the updated materials and dimensions. </a:t>
            </a:r>
            <a:endParaRPr lang="es-ES"/>
          </a:p>
          <a:p>
            <a:pPr marL="12700">
              <a:lnSpc>
                <a:spcPct val="100000"/>
              </a:lnSpc>
              <a:spcBef>
                <a:spcPts val="100"/>
              </a:spcBef>
            </a:pPr>
            <a:endParaRPr lang="en-US" sz="2500" dirty="0">
              <a:latin typeface="+mj-lt"/>
              <a:ea typeface="Calibri"/>
            </a:endParaRPr>
          </a:p>
        </p:txBody>
      </p:sp>
      <p:pic>
        <p:nvPicPr>
          <p:cNvPr id="83" name="Gráfico 82">
            <a:extLst>
              <a:ext uri="{FF2B5EF4-FFF2-40B4-BE49-F238E27FC236}">
                <a16:creationId xmlns:a16="http://schemas.microsoft.com/office/drawing/2014/main" id="{22653962-C81A-F661-9912-94B3D9D5DF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A0CC8B1-CA34-41D2-AA6D-747522E35C16}"/>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6CAC817B-68B0-F149-8C8D-6D168BF1D9B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5455730D-FCAC-9091-6DEB-802F1DCC8A23}"/>
              </a:ext>
            </a:extLst>
          </p:cNvPr>
          <p:cNvSpPr txBox="1"/>
          <p:nvPr/>
        </p:nvSpPr>
        <p:spPr>
          <a:xfrm>
            <a:off x="609441" y="4871707"/>
            <a:ext cx="11199971" cy="1384995"/>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latin typeface="Arial"/>
                <a:cs typeface="Arial"/>
              </a:rPr>
              <a:t>Comment results:</a:t>
            </a:r>
            <a:endParaRPr lang="es-ES" dirty="0">
              <a:latin typeface="Arial"/>
              <a:cs typeface="Arial"/>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a:cs typeface="Arial"/>
              </a:rPr>
              <a:t>En la </a:t>
            </a:r>
            <a:r>
              <a:rPr lang="en-US" sz="1200" dirty="0" err="1">
                <a:latin typeface="Arial"/>
                <a:cs typeface="Arial"/>
              </a:rPr>
              <a:t>guia</a:t>
            </a:r>
            <a:r>
              <a:rPr lang="en-US" sz="1200" dirty="0">
                <a:latin typeface="Arial"/>
                <a:cs typeface="Arial"/>
              </a:rPr>
              <a:t> shallow </a:t>
            </a:r>
            <a:r>
              <a:rPr lang="en-US" sz="1200" dirty="0" err="1">
                <a:latin typeface="Arial"/>
                <a:cs typeface="Arial"/>
              </a:rPr>
              <a:t>todos</a:t>
            </a:r>
            <a:r>
              <a:rPr lang="en-US" sz="1200" dirty="0">
                <a:latin typeface="Arial"/>
                <a:cs typeface="Arial"/>
              </a:rPr>
              <a:t> </a:t>
            </a:r>
            <a:r>
              <a:rPr lang="en-US" sz="1200" dirty="0" err="1">
                <a:latin typeface="Arial"/>
                <a:cs typeface="Arial"/>
              </a:rPr>
              <a:t>los</a:t>
            </a:r>
            <a:r>
              <a:rPr lang="en-US" sz="1200" dirty="0">
                <a:latin typeface="Arial"/>
                <a:cs typeface="Arial"/>
              </a:rPr>
              <a:t> </a:t>
            </a:r>
            <a:r>
              <a:rPr lang="en-US" sz="1200" dirty="0" err="1">
                <a:latin typeface="Arial"/>
                <a:cs typeface="Arial"/>
              </a:rPr>
              <a:t>modos</a:t>
            </a:r>
            <a:r>
              <a:rPr lang="en-US" sz="1200" dirty="0">
                <a:latin typeface="Arial"/>
                <a:cs typeface="Arial"/>
              </a:rPr>
              <a:t> son </a:t>
            </a:r>
            <a:r>
              <a:rPr lang="en-US" sz="1200" dirty="0" err="1">
                <a:latin typeface="Arial"/>
                <a:cs typeface="Arial"/>
              </a:rPr>
              <a:t>guiados</a:t>
            </a:r>
            <a:r>
              <a:rPr lang="en-US" sz="1200" dirty="0">
                <a:latin typeface="Arial"/>
                <a:cs typeface="Arial"/>
              </a:rPr>
              <a:t> de </a:t>
            </a:r>
            <a:r>
              <a:rPr lang="en-US" sz="1200" dirty="0" err="1">
                <a:latin typeface="Arial"/>
                <a:cs typeface="Arial"/>
              </a:rPr>
              <a:t>igual</a:t>
            </a:r>
            <a:r>
              <a:rPr lang="en-US" sz="1200" dirty="0">
                <a:latin typeface="Arial"/>
                <a:cs typeface="Arial"/>
              </a:rPr>
              <a:t> </a:t>
            </a:r>
            <a:r>
              <a:rPr lang="en-US" sz="1200" dirty="0" err="1">
                <a:latin typeface="Arial"/>
                <a:cs typeface="Arial"/>
              </a:rPr>
              <a:t>manera</a:t>
            </a:r>
            <a:r>
              <a:rPr lang="en-US" sz="1200" dirty="0">
                <a:latin typeface="Arial"/>
                <a:cs typeface="Arial"/>
              </a:rPr>
              <a:t> </a:t>
            </a:r>
            <a:r>
              <a:rPr lang="en-US" sz="1200" dirty="0" err="1">
                <a:latin typeface="Arial"/>
                <a:cs typeface="Arial"/>
              </a:rPr>
              <a:t>que</a:t>
            </a:r>
            <a:r>
              <a:rPr lang="en-US" sz="1200" dirty="0">
                <a:latin typeface="Arial"/>
                <a:cs typeface="Arial"/>
              </a:rPr>
              <a:t> </a:t>
            </a:r>
            <a:r>
              <a:rPr lang="en-US" sz="1200" dirty="0" err="1">
                <a:latin typeface="Arial"/>
                <a:cs typeface="Arial"/>
              </a:rPr>
              <a:t>ocurria</a:t>
            </a:r>
            <a:r>
              <a:rPr lang="en-US" sz="1200" dirty="0">
                <a:latin typeface="Arial"/>
                <a:cs typeface="Arial"/>
              </a:rPr>
              <a:t> con </a:t>
            </a:r>
            <a:r>
              <a:rPr lang="en-US" sz="1200" dirty="0" err="1">
                <a:latin typeface="Arial"/>
                <a:cs typeface="Arial"/>
              </a:rPr>
              <a:t>el</a:t>
            </a:r>
            <a:r>
              <a:rPr lang="en-US" sz="1200" dirty="0">
                <a:latin typeface="Arial"/>
                <a:cs typeface="Arial"/>
              </a:rPr>
              <a:t> material </a:t>
            </a:r>
            <a:r>
              <a:rPr lang="en-US" sz="1200" dirty="0" err="1">
                <a:latin typeface="Arial"/>
                <a:cs typeface="Arial"/>
              </a:rPr>
              <a:t>SiNx</a:t>
            </a:r>
            <a:r>
              <a:rPr lang="en-US" sz="1200" dirty="0">
                <a:latin typeface="Arial"/>
                <a:cs typeface="Arial"/>
              </a:rPr>
              <a:t>. No obstante se </a:t>
            </a:r>
            <a:r>
              <a:rPr lang="en-US" sz="1200" dirty="0" err="1">
                <a:latin typeface="Arial"/>
                <a:cs typeface="Arial"/>
              </a:rPr>
              <a:t>puede</a:t>
            </a:r>
            <a:r>
              <a:rPr lang="en-US" sz="1200" dirty="0">
                <a:latin typeface="Arial"/>
                <a:cs typeface="Arial"/>
              </a:rPr>
              <a:t> </a:t>
            </a:r>
            <a:r>
              <a:rPr lang="en-US" sz="1200" dirty="0" err="1">
                <a:latin typeface="Arial"/>
                <a:cs typeface="Arial"/>
              </a:rPr>
              <a:t>observar</a:t>
            </a:r>
            <a:r>
              <a:rPr lang="en-US" sz="1200" dirty="0">
                <a:latin typeface="Arial"/>
                <a:cs typeface="Arial"/>
              </a:rPr>
              <a:t> </a:t>
            </a:r>
            <a:r>
              <a:rPr lang="en-US" sz="1200" dirty="0" err="1">
                <a:latin typeface="Arial"/>
                <a:cs typeface="Arial"/>
              </a:rPr>
              <a:t>que</a:t>
            </a:r>
            <a:r>
              <a:rPr lang="en-US" sz="1200" dirty="0">
                <a:latin typeface="Arial"/>
                <a:cs typeface="Arial"/>
              </a:rPr>
              <a:t> </a:t>
            </a:r>
            <a:r>
              <a:rPr lang="en-US" sz="1200" dirty="0" err="1">
                <a:latin typeface="Arial"/>
                <a:cs typeface="Arial"/>
              </a:rPr>
              <a:t>el</a:t>
            </a:r>
            <a:r>
              <a:rPr lang="en-US" sz="1200" dirty="0">
                <a:latin typeface="Arial"/>
                <a:cs typeface="Arial"/>
              </a:rPr>
              <a:t> </a:t>
            </a:r>
            <a:r>
              <a:rPr lang="en-US" sz="1200" dirty="0" err="1">
                <a:latin typeface="Arial"/>
                <a:cs typeface="Arial"/>
              </a:rPr>
              <a:t>indice</a:t>
            </a:r>
            <a:r>
              <a:rPr lang="en-US" sz="1200" dirty="0">
                <a:latin typeface="Arial"/>
                <a:cs typeface="Arial"/>
              </a:rPr>
              <a:t> </a:t>
            </a:r>
            <a:r>
              <a:rPr lang="en-US" sz="1200" dirty="0" err="1">
                <a:latin typeface="Arial"/>
                <a:cs typeface="Arial"/>
              </a:rPr>
              <a:t>efecivo</a:t>
            </a:r>
            <a:r>
              <a:rPr lang="en-US" sz="1200" dirty="0">
                <a:latin typeface="Arial"/>
                <a:cs typeface="Arial"/>
              </a:rPr>
              <a:t> de </a:t>
            </a:r>
            <a:r>
              <a:rPr lang="en-US" sz="1200" dirty="0" err="1">
                <a:latin typeface="Arial"/>
                <a:cs typeface="Arial"/>
              </a:rPr>
              <a:t>los</a:t>
            </a:r>
            <a:r>
              <a:rPr lang="en-US" sz="1200" dirty="0">
                <a:latin typeface="Arial"/>
                <a:cs typeface="Arial"/>
              </a:rPr>
              <a:t> </a:t>
            </a:r>
            <a:r>
              <a:rPr lang="en-US" sz="1200" dirty="0" err="1">
                <a:latin typeface="Arial"/>
                <a:cs typeface="Arial"/>
              </a:rPr>
              <a:t>modos</a:t>
            </a:r>
            <a:r>
              <a:rPr lang="en-US" sz="1200" dirty="0">
                <a:latin typeface="Arial"/>
                <a:cs typeface="Arial"/>
              </a:rPr>
              <a:t> es mayor </a:t>
            </a:r>
            <a:r>
              <a:rPr lang="en-US" sz="1200" dirty="0" err="1">
                <a:latin typeface="Arial"/>
                <a:cs typeface="Arial"/>
              </a:rPr>
              <a:t>en</a:t>
            </a:r>
            <a:r>
              <a:rPr lang="en-US" sz="1200" dirty="0">
                <a:latin typeface="Arial"/>
                <a:cs typeface="Arial"/>
              </a:rPr>
              <a:t> general para </a:t>
            </a:r>
            <a:r>
              <a:rPr lang="en-US" sz="1200" dirty="0" err="1">
                <a:latin typeface="Arial"/>
                <a:cs typeface="Arial"/>
              </a:rPr>
              <a:t>el</a:t>
            </a:r>
            <a:r>
              <a:rPr lang="en-US" sz="1200" dirty="0">
                <a:latin typeface="Arial"/>
                <a:cs typeface="Arial"/>
              </a:rPr>
              <a:t> material Si. Ya </a:t>
            </a:r>
            <a:r>
              <a:rPr lang="en-US" sz="1200" dirty="0" err="1">
                <a:latin typeface="Arial"/>
                <a:cs typeface="Arial"/>
              </a:rPr>
              <a:t>que</a:t>
            </a:r>
            <a:r>
              <a:rPr lang="en-US" sz="1200" dirty="0">
                <a:latin typeface="Arial"/>
                <a:cs typeface="Arial"/>
              </a:rPr>
              <a:t> </a:t>
            </a:r>
            <a:r>
              <a:rPr lang="en-US" sz="1200" dirty="0" err="1">
                <a:latin typeface="Arial"/>
                <a:cs typeface="Arial"/>
              </a:rPr>
              <a:t>el</a:t>
            </a:r>
            <a:r>
              <a:rPr lang="en-US" sz="1200" dirty="0">
                <a:latin typeface="Arial"/>
                <a:cs typeface="Arial"/>
              </a:rPr>
              <a:t> Si </a:t>
            </a:r>
            <a:r>
              <a:rPr lang="en-US" sz="1200" dirty="0" err="1">
                <a:latin typeface="Arial"/>
                <a:cs typeface="Arial"/>
              </a:rPr>
              <a:t>tiene</a:t>
            </a:r>
            <a:r>
              <a:rPr lang="en-US" sz="1200" dirty="0">
                <a:latin typeface="Arial"/>
                <a:cs typeface="Arial"/>
              </a:rPr>
              <a:t> un </a:t>
            </a:r>
            <a:r>
              <a:rPr lang="en-US" sz="1200" dirty="0" err="1">
                <a:latin typeface="Arial"/>
                <a:cs typeface="Arial"/>
              </a:rPr>
              <a:t>indice</a:t>
            </a:r>
            <a:r>
              <a:rPr lang="en-US" sz="1200" dirty="0">
                <a:latin typeface="Arial"/>
                <a:cs typeface="Arial"/>
              </a:rPr>
              <a:t> mayor al </a:t>
            </a:r>
            <a:r>
              <a:rPr lang="en-US" sz="1200" dirty="0" err="1">
                <a:latin typeface="Arial"/>
                <a:cs typeface="Arial"/>
              </a:rPr>
              <a:t>indice</a:t>
            </a:r>
            <a:r>
              <a:rPr lang="en-US" sz="1200" dirty="0">
                <a:latin typeface="Arial"/>
                <a:cs typeface="Arial"/>
              </a:rPr>
              <a:t> del </a:t>
            </a:r>
            <a:r>
              <a:rPr lang="en-US" sz="1200" dirty="0" err="1">
                <a:latin typeface="Arial"/>
                <a:cs typeface="Arial"/>
              </a:rPr>
              <a:t>SiNx</a:t>
            </a:r>
            <a:r>
              <a:rPr lang="en-US" sz="1200" dirty="0">
                <a:latin typeface="Arial"/>
                <a:cs typeface="Arial"/>
              </a:rPr>
              <a:t>. En </a:t>
            </a:r>
            <a:r>
              <a:rPr lang="en-US" sz="1200" dirty="0" err="1">
                <a:latin typeface="Arial"/>
                <a:cs typeface="Arial"/>
              </a:rPr>
              <a:t>cuanto</a:t>
            </a:r>
            <a:r>
              <a:rPr lang="en-US" sz="1200" dirty="0">
                <a:latin typeface="Arial"/>
                <a:cs typeface="Arial"/>
              </a:rPr>
              <a:t> a la </a:t>
            </a:r>
            <a:r>
              <a:rPr lang="en-US" sz="1200" dirty="0" err="1">
                <a:latin typeface="Arial"/>
                <a:cs typeface="Arial"/>
              </a:rPr>
              <a:t>guia</a:t>
            </a:r>
            <a:r>
              <a:rPr lang="en-US" sz="1200" dirty="0">
                <a:latin typeface="Arial"/>
                <a:cs typeface="Arial"/>
              </a:rPr>
              <a:t> deep, hay un modo </a:t>
            </a:r>
            <a:r>
              <a:rPr lang="en-US" sz="1200" dirty="0" err="1">
                <a:latin typeface="Arial"/>
                <a:cs typeface="Arial"/>
              </a:rPr>
              <a:t>guiado</a:t>
            </a:r>
            <a:r>
              <a:rPr lang="en-US" sz="1200" dirty="0">
                <a:latin typeface="Arial"/>
                <a:cs typeface="Arial"/>
              </a:rPr>
              <a:t> </a:t>
            </a:r>
            <a:r>
              <a:rPr lang="en-US" sz="1200" dirty="0" err="1">
                <a:latin typeface="Arial"/>
                <a:cs typeface="Arial"/>
              </a:rPr>
              <a:t>más</a:t>
            </a:r>
            <a:r>
              <a:rPr lang="en-US" sz="1200" dirty="0">
                <a:latin typeface="Arial"/>
                <a:cs typeface="Arial"/>
              </a:rPr>
              <a:t> </a:t>
            </a:r>
            <a:r>
              <a:rPr lang="en-US" sz="1200" dirty="0" err="1">
                <a:latin typeface="Arial"/>
                <a:cs typeface="Arial"/>
              </a:rPr>
              <a:t>en</a:t>
            </a:r>
            <a:r>
              <a:rPr lang="en-US" sz="1200" dirty="0">
                <a:latin typeface="Arial"/>
                <a:cs typeface="Arial"/>
              </a:rPr>
              <a:t> la </a:t>
            </a:r>
            <a:r>
              <a:rPr lang="en-US" sz="1200" dirty="0" err="1">
                <a:latin typeface="Arial"/>
                <a:cs typeface="Arial"/>
              </a:rPr>
              <a:t>configuración</a:t>
            </a:r>
            <a:r>
              <a:rPr lang="en-US" sz="1200" dirty="0">
                <a:latin typeface="Arial"/>
                <a:cs typeface="Arial"/>
              </a:rPr>
              <a:t> con material Si </a:t>
            </a:r>
            <a:r>
              <a:rPr lang="en-US" sz="1200" dirty="0" err="1">
                <a:latin typeface="Arial"/>
                <a:cs typeface="Arial"/>
              </a:rPr>
              <a:t>que</a:t>
            </a:r>
            <a:r>
              <a:rPr lang="en-US" sz="1200" dirty="0">
                <a:latin typeface="Arial"/>
                <a:cs typeface="Arial"/>
              </a:rPr>
              <a:t> con </a:t>
            </a:r>
            <a:r>
              <a:rPr lang="en-US" sz="1200" dirty="0" err="1">
                <a:latin typeface="Arial"/>
                <a:cs typeface="Arial"/>
              </a:rPr>
              <a:t>SiNx</a:t>
            </a:r>
            <a:r>
              <a:rPr lang="en-US" sz="1200" dirty="0">
                <a:latin typeface="Arial"/>
                <a:cs typeface="Arial"/>
              </a:rPr>
              <a:t>, </a:t>
            </a:r>
            <a:r>
              <a:rPr lang="en-US" sz="1200" dirty="0" err="1">
                <a:latin typeface="Arial"/>
                <a:cs typeface="Arial"/>
              </a:rPr>
              <a:t>aunque</a:t>
            </a:r>
            <a:r>
              <a:rPr lang="en-US" sz="1200" dirty="0">
                <a:latin typeface="Arial"/>
                <a:cs typeface="Arial"/>
              </a:rPr>
              <a:t> </a:t>
            </a:r>
            <a:r>
              <a:rPr lang="en-US" sz="1200" dirty="0" err="1">
                <a:latin typeface="Arial"/>
                <a:cs typeface="Arial"/>
              </a:rPr>
              <a:t>cabe</a:t>
            </a:r>
            <a:r>
              <a:rPr lang="en-US" sz="1200" dirty="0">
                <a:latin typeface="Arial"/>
                <a:cs typeface="Arial"/>
              </a:rPr>
              <a:t> </a:t>
            </a:r>
            <a:r>
              <a:rPr lang="en-US" sz="1200" dirty="0" err="1">
                <a:latin typeface="Arial"/>
                <a:cs typeface="Arial"/>
              </a:rPr>
              <a:t>destacar</a:t>
            </a:r>
            <a:r>
              <a:rPr lang="en-US" sz="1200" dirty="0">
                <a:latin typeface="Arial"/>
                <a:cs typeface="Arial"/>
              </a:rPr>
              <a:t> </a:t>
            </a:r>
            <a:r>
              <a:rPr lang="en-US" sz="1200" dirty="0" err="1">
                <a:latin typeface="Arial"/>
                <a:cs typeface="Arial"/>
              </a:rPr>
              <a:t>que</a:t>
            </a:r>
            <a:r>
              <a:rPr lang="en-US" sz="1200" dirty="0">
                <a:latin typeface="Arial"/>
                <a:cs typeface="Arial"/>
              </a:rPr>
              <a:t> </a:t>
            </a:r>
            <a:r>
              <a:rPr lang="en-US" sz="1200" dirty="0" err="1">
                <a:latin typeface="Arial"/>
                <a:cs typeface="Arial"/>
              </a:rPr>
              <a:t>está</a:t>
            </a:r>
            <a:r>
              <a:rPr lang="en-US" sz="1200" dirty="0">
                <a:latin typeface="Arial"/>
                <a:cs typeface="Arial"/>
              </a:rPr>
              <a:t> </a:t>
            </a:r>
            <a:r>
              <a:rPr lang="en-US" sz="1200" dirty="0" err="1">
                <a:latin typeface="Arial"/>
                <a:cs typeface="Arial"/>
              </a:rPr>
              <a:t>muy</a:t>
            </a:r>
            <a:r>
              <a:rPr lang="en-US" sz="1200" dirty="0">
                <a:latin typeface="Arial"/>
                <a:cs typeface="Arial"/>
              </a:rPr>
              <a:t> al </a:t>
            </a:r>
            <a:r>
              <a:rPr lang="en-US" sz="1200" dirty="0" err="1">
                <a:latin typeface="Arial"/>
                <a:cs typeface="Arial"/>
              </a:rPr>
              <a:t>límite</a:t>
            </a:r>
            <a:r>
              <a:rPr lang="en-US" sz="1200" dirty="0">
                <a:latin typeface="Arial"/>
                <a:cs typeface="Arial"/>
              </a:rPr>
              <a:t> de la </a:t>
            </a:r>
            <a:r>
              <a:rPr lang="en-US" sz="1200" dirty="0" err="1">
                <a:latin typeface="Arial"/>
                <a:cs typeface="Arial"/>
              </a:rPr>
              <a:t>línea</a:t>
            </a:r>
            <a:r>
              <a:rPr lang="en-US" sz="1200" dirty="0">
                <a:latin typeface="Arial"/>
                <a:cs typeface="Arial"/>
              </a:rPr>
              <a:t> de corte.</a:t>
            </a:r>
            <a:endParaRPr lang="en-US" sz="1200" dirty="0" err="1">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09A2165-2C93-CA38-EF48-BE94208BB329}"/>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Gráfico, Gráfico de líneas&#10;&#10;El contenido generado por IA puede ser incorrecto.">
            <a:extLst>
              <a:ext uri="{FF2B5EF4-FFF2-40B4-BE49-F238E27FC236}">
                <a16:creationId xmlns:a16="http://schemas.microsoft.com/office/drawing/2014/main" id="{EA257A96-BCBE-085F-A1AA-996D39434A34}"/>
              </a:ext>
            </a:extLst>
          </p:cNvPr>
          <p:cNvPicPr>
            <a:picLocks noChangeAspect="1"/>
          </p:cNvPicPr>
          <p:nvPr/>
        </p:nvPicPr>
        <p:blipFill>
          <a:blip r:embed="rId5"/>
          <a:stretch>
            <a:fillRect/>
          </a:stretch>
        </p:blipFill>
        <p:spPr>
          <a:xfrm>
            <a:off x="610381" y="1265972"/>
            <a:ext cx="5512136" cy="3438952"/>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4CF9961D-F3F9-35CD-CE2C-C28D4D3AEE45}"/>
              </a:ext>
            </a:extLst>
          </p:cNvPr>
          <p:cNvPicPr>
            <a:picLocks noChangeAspect="1"/>
          </p:cNvPicPr>
          <p:nvPr/>
        </p:nvPicPr>
        <p:blipFill>
          <a:blip r:embed="rId6"/>
          <a:stretch>
            <a:fillRect/>
          </a:stretch>
        </p:blipFill>
        <p:spPr>
          <a:xfrm>
            <a:off x="6183217" y="1265972"/>
            <a:ext cx="5682731" cy="3438953"/>
          </a:xfrm>
          <a:prstGeom prst="rect">
            <a:avLst/>
          </a:prstGeom>
        </p:spPr>
      </p:pic>
    </p:spTree>
    <p:extLst>
      <p:ext uri="{BB962C8B-B14F-4D97-AF65-F5344CB8AC3E}">
        <p14:creationId xmlns:p14="http://schemas.microsoft.com/office/powerpoint/2010/main" val="1081162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8218-03ED-ECD4-10E5-ED6F72EC497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689CF9F-A3EE-17E7-24B4-7F7CEC731478}"/>
              </a:ext>
            </a:extLst>
          </p:cNvPr>
          <p:cNvSpPr txBox="1">
            <a:spLocks noGrp="1"/>
          </p:cNvSpPr>
          <p:nvPr>
            <p:ph type="title"/>
          </p:nvPr>
        </p:nvSpPr>
        <p:spPr>
          <a:xfrm>
            <a:off x="685800" y="408883"/>
            <a:ext cx="10994410" cy="1564531"/>
          </a:xfrm>
          <a:prstGeom prst="rect">
            <a:avLst/>
          </a:prstGeom>
        </p:spPr>
        <p:txBody>
          <a:bodyPr vert="horz" wrap="square" lIns="0" tIns="12700" rIns="0" bIns="0" rtlCol="0" anchor="t">
            <a:spAutoFit/>
          </a:bodyPr>
          <a:lstStyle/>
          <a:p>
            <a:pPr algn="l"/>
            <a:r>
              <a:rPr lang="en-US" sz="2500" b="0">
                <a:ea typeface="Calibri"/>
              </a:rPr>
              <a:t># Extra 2. Repeat the LO.3. width dependence analysis, now sweeping in a 300nm - 1um range. </a:t>
            </a:r>
            <a:endParaRPr lang="es-ES" sz="2500"/>
          </a:p>
          <a:p>
            <a:pPr algn="l"/>
            <a:endParaRPr lang="en-US" sz="2500" b="0" dirty="0">
              <a:ea typeface="Calibri"/>
            </a:endParaRPr>
          </a:p>
          <a:p>
            <a:pPr marL="12700">
              <a:lnSpc>
                <a:spcPct val="100000"/>
              </a:lnSpc>
              <a:spcBef>
                <a:spcPts val="100"/>
              </a:spcBef>
            </a:pPr>
            <a:endParaRPr lang="en-US" sz="2500" dirty="0">
              <a:latin typeface="+mj-lt"/>
              <a:ea typeface="Calibri"/>
            </a:endParaRPr>
          </a:p>
        </p:txBody>
      </p:sp>
      <p:pic>
        <p:nvPicPr>
          <p:cNvPr id="83" name="Gráfico 82">
            <a:extLst>
              <a:ext uri="{FF2B5EF4-FFF2-40B4-BE49-F238E27FC236}">
                <a16:creationId xmlns:a16="http://schemas.microsoft.com/office/drawing/2014/main" id="{369F40A9-212F-D98D-3D7D-2A597A6015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1D16FC5-9CA9-2D67-D629-A7B8C09058C8}"/>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26295D1A-F8A4-698E-5E13-6EA7B933F7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06EA19EF-0A22-1588-869E-8616293F918E}"/>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latin typeface="Arial"/>
                <a:cs typeface="Arial"/>
              </a:rPr>
              <a:t>Comment results:</a:t>
            </a:r>
            <a:endParaRPr lang="es-ES" dirty="0">
              <a:latin typeface="Arial"/>
              <a:cs typeface="Arial"/>
            </a:endParaRPr>
          </a:p>
          <a:p>
            <a:pPr algn="just"/>
            <a:endParaRPr lang="en-US" sz="1200" dirty="0">
              <a:latin typeface="Arial"/>
              <a:cs typeface="Arial"/>
            </a:endParaRPr>
          </a:p>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comprobar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conforme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anchura</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misma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manera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ocurría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material </a:t>
            </a:r>
            <a:r>
              <a:rPr lang="en-US" sz="1200" dirty="0" err="1">
                <a:latin typeface="Arial" panose="020B0604020202020204" pitchFamily="34" charset="0"/>
                <a:cs typeface="Arial" panose="020B0604020202020204" pitchFamily="34" charset="0"/>
              </a:rPr>
              <a:t>SiNx</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Aunque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cabe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destacar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con Si </a:t>
            </a:r>
            <a:r>
              <a:rPr lang="en-US" sz="1200" dirty="0" err="1">
                <a:latin typeface="Arial" panose="020B0604020202020204" pitchFamily="34" charset="0"/>
                <a:ea typeface="+mn-lt"/>
                <a:cs typeface="Arial" panose="020B0604020202020204" pitchFamily="34" charset="0"/>
              </a:rPr>
              <a:t>el</a:t>
            </a:r>
            <a:r>
              <a:rPr lang="en-US" sz="1200" dirty="0">
                <a:latin typeface="Arial" panose="020B0604020202020204" pitchFamily="34" charset="0"/>
                <a:ea typeface="+mn-lt"/>
                <a:cs typeface="Arial" panose="020B0604020202020204" pitchFamily="34" charset="0"/>
              </a:rPr>
              <a:t> </a:t>
            </a:r>
            <a:r>
              <a:rPr lang="en-US" sz="1200" dirty="0" err="1">
                <a:latin typeface="Arial" panose="020B0604020202020204" pitchFamily="34" charset="0"/>
                <a:ea typeface="+mn-lt"/>
                <a:cs typeface="Arial" panose="020B0604020202020204" pitchFamily="34" charset="0"/>
              </a:rPr>
              <a:t>indice</a:t>
            </a:r>
            <a:r>
              <a:rPr lang="en-US" sz="1200" dirty="0">
                <a:latin typeface="Arial" panose="020B0604020202020204" pitchFamily="34" charset="0"/>
                <a:ea typeface="+mn-lt"/>
                <a:cs typeface="Arial" panose="020B0604020202020204" pitchFamily="34" charset="0"/>
              </a:rPr>
              <a:t> </a:t>
            </a:r>
            <a:r>
              <a:rPr lang="en-US" sz="1200" dirty="0" err="1">
                <a:latin typeface="Arial" panose="020B0604020202020204" pitchFamily="34" charset="0"/>
                <a:ea typeface="+mn-lt"/>
                <a:cs typeface="Arial" panose="020B0604020202020204" pitchFamily="34" charset="0"/>
              </a:rPr>
              <a:t>efectivo</a:t>
            </a:r>
            <a:r>
              <a:rPr lang="en-US" sz="1200" dirty="0">
                <a:latin typeface="Arial" panose="020B0604020202020204" pitchFamily="34" charset="0"/>
                <a:ea typeface="+mn-lt"/>
                <a:cs typeface="Arial" panose="020B0604020202020204" pitchFamily="34" charset="0"/>
              </a:rPr>
              <a:t> de </a:t>
            </a:r>
            <a:r>
              <a:rPr lang="en-US" sz="1200" dirty="0" err="1">
                <a:latin typeface="Arial" panose="020B0604020202020204" pitchFamily="34" charset="0"/>
                <a:ea typeface="+mn-lt"/>
                <a:cs typeface="Arial" panose="020B0604020202020204" pitchFamily="34" charset="0"/>
              </a:rPr>
              <a:t>los</a:t>
            </a:r>
            <a:r>
              <a:rPr lang="en-US" sz="1200" dirty="0">
                <a:latin typeface="Arial" panose="020B0604020202020204" pitchFamily="34" charset="0"/>
                <a:ea typeface="+mn-lt"/>
                <a:cs typeface="Arial" panose="020B0604020202020204" pitchFamily="34" charset="0"/>
              </a:rPr>
              <a:t> </a:t>
            </a:r>
            <a:r>
              <a:rPr lang="en-US" sz="1200" dirty="0" err="1">
                <a:latin typeface="Arial" panose="020B0604020202020204" pitchFamily="34" charset="0"/>
                <a:ea typeface="+mn-lt"/>
                <a:cs typeface="Arial" panose="020B0604020202020204" pitchFamily="34" charset="0"/>
              </a:rPr>
              <a:t>modos</a:t>
            </a:r>
            <a:r>
              <a:rPr lang="en-US" sz="1200" dirty="0">
                <a:latin typeface="Arial" panose="020B0604020202020204" pitchFamily="34" charset="0"/>
                <a:ea typeface="+mn-lt"/>
                <a:cs typeface="Arial" panose="020B0604020202020204" pitchFamily="34" charset="0"/>
              </a:rPr>
              <a:t> </a:t>
            </a:r>
            <a:r>
              <a:rPr lang="en-US" sz="1200" dirty="0" err="1">
                <a:latin typeface="Arial" panose="020B0604020202020204" pitchFamily="34" charset="0"/>
                <a:ea typeface="+mn-lt"/>
                <a:cs typeface="Arial" panose="020B0604020202020204" pitchFamily="34" charset="0"/>
              </a:rPr>
              <a:t>va</a:t>
            </a:r>
            <a:r>
              <a:rPr lang="en-US" sz="1200" dirty="0">
                <a:latin typeface="Arial" panose="020B0604020202020204" pitchFamily="34" charset="0"/>
                <a:ea typeface="+mn-lt"/>
                <a:cs typeface="Arial" panose="020B0604020202020204" pitchFamily="34" charset="0"/>
              </a:rPr>
              <a:t> de </a:t>
            </a:r>
            <a:r>
              <a:rPr lang="en-US" sz="1200" dirty="0" err="1">
                <a:latin typeface="Arial" panose="020B0604020202020204" pitchFamily="34" charset="0"/>
                <a:ea typeface="+mn-lt"/>
                <a:cs typeface="Arial" panose="020B0604020202020204" pitchFamily="34" charset="0"/>
              </a:rPr>
              <a:t>aproximadamente</a:t>
            </a:r>
            <a:r>
              <a:rPr lang="en-US" sz="1200" dirty="0">
                <a:latin typeface="Arial" panose="020B0604020202020204" pitchFamily="34" charset="0"/>
                <a:ea typeface="+mn-lt"/>
                <a:cs typeface="Arial" panose="020B0604020202020204" pitchFamily="34" charset="0"/>
              </a:rPr>
              <a:t> 1.44 hasta </a:t>
            </a:r>
            <a:r>
              <a:rPr lang="en-US" sz="1200" dirty="0" err="1">
                <a:latin typeface="Arial" panose="020B0604020202020204" pitchFamily="34" charset="0"/>
                <a:ea typeface="+mn-lt"/>
                <a:cs typeface="Arial" panose="020B0604020202020204" pitchFamily="34" charset="0"/>
              </a:rPr>
              <a:t>casi</a:t>
            </a:r>
            <a:r>
              <a:rPr lang="en-US" sz="1200" dirty="0">
                <a:latin typeface="Arial" panose="020B0604020202020204" pitchFamily="34" charset="0"/>
                <a:ea typeface="+mn-lt"/>
                <a:cs typeface="Arial" panose="020B0604020202020204" pitchFamily="34" charset="0"/>
              </a:rPr>
              <a:t> 2.8. Esto indica un alto </a:t>
            </a:r>
            <a:r>
              <a:rPr lang="en-US" sz="1200" dirty="0" err="1">
                <a:latin typeface="Arial" panose="020B0604020202020204" pitchFamily="34" charset="0"/>
                <a:ea typeface="+mn-lt"/>
                <a:cs typeface="Arial" panose="020B0604020202020204" pitchFamily="34" charset="0"/>
              </a:rPr>
              <a:t>contraste</a:t>
            </a:r>
            <a:r>
              <a:rPr lang="en-US" sz="1200" dirty="0">
                <a:latin typeface="Arial" panose="020B0604020202020204" pitchFamily="34" charset="0"/>
                <a:ea typeface="+mn-lt"/>
                <a:cs typeface="Arial" panose="020B0604020202020204" pitchFamily="34" charset="0"/>
              </a:rPr>
              <a:t> de </a:t>
            </a:r>
            <a:r>
              <a:rPr lang="en-US" sz="1200" dirty="0" err="1">
                <a:latin typeface="Arial" panose="020B0604020202020204" pitchFamily="34" charset="0"/>
                <a:ea typeface="+mn-lt"/>
                <a:cs typeface="Arial" panose="020B0604020202020204" pitchFamily="34" charset="0"/>
              </a:rPr>
              <a:t>índice</a:t>
            </a:r>
            <a:r>
              <a:rPr lang="en-US" sz="1200" dirty="0">
                <a:latin typeface="Arial" panose="020B0604020202020204" pitchFamily="34" charset="0"/>
                <a:ea typeface="+mn-lt"/>
                <a:cs typeface="Arial" panose="020B0604020202020204" pitchFamily="34" charset="0"/>
              </a:rPr>
              <a:t> </a:t>
            </a:r>
            <a:r>
              <a:rPr lang="en-US" sz="1200" dirty="0" err="1">
                <a:latin typeface="Arial" panose="020B0604020202020204" pitchFamily="34" charset="0"/>
                <a:ea typeface="+mn-lt"/>
                <a:cs typeface="Arial" panose="020B0604020202020204" pitchFamily="34" charset="0"/>
              </a:rPr>
              <a:t>mientras</a:t>
            </a:r>
            <a:r>
              <a:rPr lang="en-US" sz="1200" dirty="0">
                <a:latin typeface="Arial" panose="020B0604020202020204" pitchFamily="34" charset="0"/>
                <a:ea typeface="+mn-lt"/>
                <a:cs typeface="Arial" panose="020B0604020202020204" pitchFamily="34" charset="0"/>
              </a:rPr>
              <a:t> </a:t>
            </a:r>
            <a:r>
              <a:rPr lang="en-US" sz="1200" dirty="0" err="1">
                <a:latin typeface="Arial" panose="020B0604020202020204" pitchFamily="34" charset="0"/>
                <a:ea typeface="+mn-lt"/>
                <a:cs typeface="Arial" panose="020B0604020202020204" pitchFamily="34" charset="0"/>
              </a:rPr>
              <a:t>que</a:t>
            </a:r>
            <a:r>
              <a:rPr lang="en-US" sz="1200" dirty="0">
                <a:latin typeface="Arial" panose="020B0604020202020204" pitchFamily="34" charset="0"/>
                <a:ea typeface="+mn-lt"/>
                <a:cs typeface="Arial" panose="020B0604020202020204" pitchFamily="34" charset="0"/>
              </a:rPr>
              <a:t> la </a:t>
            </a:r>
            <a:r>
              <a:rPr lang="en-US" sz="1200" dirty="0" err="1">
                <a:latin typeface="Arial" panose="020B0604020202020204" pitchFamily="34" charset="0"/>
                <a:ea typeface="+mn-lt"/>
                <a:cs typeface="Arial" panose="020B0604020202020204" pitchFamily="34" charset="0"/>
              </a:rPr>
              <a:t>guía</a:t>
            </a:r>
            <a:r>
              <a:rPr lang="en-US" sz="1200" dirty="0">
                <a:latin typeface="Arial" panose="020B0604020202020204" pitchFamily="34" charset="0"/>
                <a:ea typeface="+mn-lt"/>
                <a:cs typeface="Arial" panose="020B0604020202020204" pitchFamily="34" charset="0"/>
              </a:rPr>
              <a:t> con </a:t>
            </a:r>
            <a:r>
              <a:rPr lang="en-US" sz="1200" dirty="0" err="1">
                <a:latin typeface="Arial" panose="020B0604020202020204" pitchFamily="34" charset="0"/>
                <a:ea typeface="+mn-lt"/>
                <a:cs typeface="Arial" panose="020B0604020202020204" pitchFamily="34" charset="0"/>
              </a:rPr>
              <a:t>SiNx</a:t>
            </a:r>
            <a:r>
              <a:rPr lang="en-US" sz="1200" dirty="0">
                <a:latin typeface="Arial" panose="020B0604020202020204" pitchFamily="34" charset="0"/>
                <a:ea typeface="+mn-lt"/>
                <a:cs typeface="Arial" panose="020B0604020202020204" pitchFamily="34" charset="0"/>
              </a:rPr>
              <a:t> </a:t>
            </a:r>
            <a:r>
              <a:rPr lang="en-US" sz="1200" dirty="0" err="1">
                <a:latin typeface="Arial" panose="020B0604020202020204" pitchFamily="34" charset="0"/>
                <a:ea typeface="+mn-lt"/>
                <a:cs typeface="Arial" panose="020B0604020202020204" pitchFamily="34" charset="0"/>
              </a:rPr>
              <a:t>tiene</a:t>
            </a:r>
            <a:r>
              <a:rPr lang="en-US" sz="1200" dirty="0">
                <a:latin typeface="Arial" panose="020B0604020202020204" pitchFamily="34" charset="0"/>
                <a:ea typeface="+mn-lt"/>
                <a:cs typeface="Arial" panose="020B0604020202020204" pitchFamily="34" charset="0"/>
              </a:rPr>
              <a:t> un bajo </a:t>
            </a:r>
            <a:r>
              <a:rPr lang="en-US" sz="1200" dirty="0" err="1">
                <a:latin typeface="Arial" panose="020B0604020202020204" pitchFamily="34" charset="0"/>
                <a:ea typeface="+mn-lt"/>
                <a:cs typeface="Arial" panose="020B0604020202020204" pitchFamily="34" charset="0"/>
              </a:rPr>
              <a:t>contraste</a:t>
            </a:r>
            <a:r>
              <a:rPr lang="en-US" sz="1200" dirty="0">
                <a:latin typeface="Arial" panose="020B0604020202020204" pitchFamily="34" charset="0"/>
                <a:ea typeface="+mn-lt"/>
                <a:cs typeface="Arial" panose="020B0604020202020204" pitchFamily="34" charset="0"/>
              </a:rPr>
              <a:t> de </a:t>
            </a:r>
            <a:r>
              <a:rPr lang="en-US" sz="1200" dirty="0" err="1">
                <a:latin typeface="Arial" panose="020B0604020202020204" pitchFamily="34" charset="0"/>
                <a:ea typeface="+mn-lt"/>
                <a:cs typeface="Arial" panose="020B0604020202020204" pitchFamily="34" charset="0"/>
              </a:rPr>
              <a:t>índice</a:t>
            </a:r>
            <a:r>
              <a:rPr lang="en-US" sz="1200" dirty="0">
                <a:latin typeface="Arial" panose="020B0604020202020204" pitchFamily="34" charset="0"/>
                <a:ea typeface="+mn-lt"/>
                <a:cs typeface="Arial" panose="020B0604020202020204" pitchFamily="34" charset="0"/>
              </a:rPr>
              <a:t> (de  1.50 a 1.625). </a:t>
            </a:r>
          </a:p>
          <a:p>
            <a:pPr algn="just"/>
            <a:endParaRPr lang="en-US" sz="1200" dirty="0">
              <a:latin typeface="Arial" panose="020B0604020202020204" pitchFamily="34" charset="0"/>
              <a:ea typeface="Calibri"/>
              <a:cs typeface="Arial" panose="020B0604020202020204" pitchFamily="34" charset="0"/>
            </a:endParaRPr>
          </a:p>
          <a:p>
            <a:pPr algn="just"/>
            <a:r>
              <a:rPr lang="en-US" sz="1200" dirty="0">
                <a:latin typeface="Arial" panose="020B0604020202020204" pitchFamily="34" charset="0"/>
                <a:ea typeface="Calibri"/>
                <a:cs typeface="Arial" panose="020B0604020202020204" pitchFamily="34" charset="0"/>
              </a:rPr>
              <a:t>Por </a:t>
            </a:r>
            <a:r>
              <a:rPr lang="en-US" sz="1200" dirty="0" err="1">
                <a:latin typeface="Arial" panose="020B0604020202020204" pitchFamily="34" charset="0"/>
                <a:ea typeface="Calibri"/>
                <a:cs typeface="Arial" panose="020B0604020202020204" pitchFamily="34" charset="0"/>
              </a:rPr>
              <a:t>otra</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parte</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observamos</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que</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en</a:t>
            </a:r>
            <a:r>
              <a:rPr lang="en-US" sz="1200" dirty="0">
                <a:latin typeface="Arial" panose="020B0604020202020204" pitchFamily="34" charset="0"/>
                <a:ea typeface="Calibri"/>
                <a:cs typeface="Arial" panose="020B0604020202020204" pitchFamily="34" charset="0"/>
              </a:rPr>
              <a:t> la </a:t>
            </a:r>
            <a:r>
              <a:rPr lang="en-US" sz="1200" dirty="0" err="1">
                <a:latin typeface="Arial" panose="020B0604020202020204" pitchFamily="34" charset="0"/>
                <a:ea typeface="Calibri"/>
                <a:cs typeface="Arial" panose="020B0604020202020204" pitchFamily="34" charset="0"/>
              </a:rPr>
              <a:t>guia</a:t>
            </a:r>
            <a:r>
              <a:rPr lang="en-US" sz="1200" dirty="0">
                <a:latin typeface="Arial" panose="020B0604020202020204" pitchFamily="34" charset="0"/>
                <a:ea typeface="Calibri"/>
                <a:cs typeface="Arial" panose="020B0604020202020204" pitchFamily="34" charset="0"/>
              </a:rPr>
              <a:t> con </a:t>
            </a:r>
            <a:r>
              <a:rPr lang="en-US" sz="1200" dirty="0" err="1">
                <a:latin typeface="Arial" panose="020B0604020202020204" pitchFamily="34" charset="0"/>
                <a:ea typeface="Calibri"/>
                <a:cs typeface="Arial" panose="020B0604020202020204" pitchFamily="34" charset="0"/>
              </a:rPr>
              <a:t>SiNx</a:t>
            </a:r>
            <a:r>
              <a:rPr lang="en-US" sz="1200" dirty="0">
                <a:latin typeface="Arial" panose="020B0604020202020204" pitchFamily="34" charset="0"/>
                <a:ea typeface="Calibri"/>
                <a:cs typeface="Arial" panose="020B0604020202020204" pitchFamily="34" charset="0"/>
              </a:rPr>
              <a:t> la </a:t>
            </a:r>
            <a:r>
              <a:rPr lang="en-US" sz="1200" dirty="0" err="1">
                <a:latin typeface="Arial" panose="020B0604020202020204" pitchFamily="34" charset="0"/>
                <a:ea typeface="Calibri"/>
                <a:cs typeface="Arial" panose="020B0604020202020204" pitchFamily="34" charset="0"/>
              </a:rPr>
              <a:t>fracción</a:t>
            </a:r>
            <a:r>
              <a:rPr lang="en-US" sz="1200" dirty="0">
                <a:latin typeface="Arial" panose="020B0604020202020204" pitchFamily="34" charset="0"/>
                <a:ea typeface="Calibri"/>
                <a:cs typeface="Arial" panose="020B0604020202020204" pitchFamily="34" charset="0"/>
              </a:rPr>
              <a:t> de TE no </a:t>
            </a:r>
            <a:r>
              <a:rPr lang="en-US" sz="1200" dirty="0" err="1">
                <a:latin typeface="Arial" panose="020B0604020202020204" pitchFamily="34" charset="0"/>
                <a:ea typeface="Calibri"/>
                <a:cs typeface="Arial" panose="020B0604020202020204" pitchFamily="34" charset="0"/>
              </a:rPr>
              <a:t>varía</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drásticamente</a:t>
            </a:r>
            <a:r>
              <a:rPr lang="en-US" sz="1200" dirty="0">
                <a:latin typeface="Arial" panose="020B0604020202020204" pitchFamily="34" charset="0"/>
                <a:ea typeface="Calibri"/>
                <a:cs typeface="Arial" panose="020B0604020202020204" pitchFamily="34" charset="0"/>
              </a:rPr>
              <a:t> con </a:t>
            </a:r>
            <a:r>
              <a:rPr lang="en-US" sz="1200" dirty="0" err="1">
                <a:latin typeface="Arial" panose="020B0604020202020204" pitchFamily="34" charset="0"/>
                <a:ea typeface="Calibri"/>
                <a:cs typeface="Arial" panose="020B0604020202020204" pitchFamily="34" charset="0"/>
              </a:rPr>
              <a:t>el</a:t>
            </a:r>
            <a:r>
              <a:rPr lang="en-US" sz="1200" dirty="0">
                <a:latin typeface="Arial" panose="020B0604020202020204" pitchFamily="34" charset="0"/>
                <a:ea typeface="Calibri"/>
                <a:cs typeface="Arial" panose="020B0604020202020204" pitchFamily="34" charset="0"/>
              </a:rPr>
              <a:t> ancho de la </a:t>
            </a:r>
            <a:r>
              <a:rPr lang="en-US" sz="1200" dirty="0" err="1">
                <a:latin typeface="Arial" panose="020B0604020202020204" pitchFamily="34" charset="0"/>
                <a:ea typeface="Calibri"/>
                <a:cs typeface="Arial" panose="020B0604020202020204" pitchFamily="34" charset="0"/>
              </a:rPr>
              <a:t>guia</a:t>
            </a:r>
            <a:r>
              <a:rPr lang="en-US" sz="1200" dirty="0">
                <a:latin typeface="Arial" panose="020B0604020202020204" pitchFamily="34" charset="0"/>
                <a:ea typeface="Calibri"/>
                <a:cs typeface="Arial" panose="020B0604020202020204" pitchFamily="34" charset="0"/>
              </a:rPr>
              <a:t>. En </a:t>
            </a:r>
            <a:r>
              <a:rPr lang="en-US" sz="1200" dirty="0" err="1">
                <a:latin typeface="Arial" panose="020B0604020202020204" pitchFamily="34" charset="0"/>
                <a:ea typeface="Calibri"/>
                <a:cs typeface="Arial" panose="020B0604020202020204" pitchFamily="34" charset="0"/>
              </a:rPr>
              <a:t>contraposición</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en</a:t>
            </a:r>
            <a:r>
              <a:rPr lang="en-US" sz="1200" dirty="0">
                <a:latin typeface="Arial" panose="020B0604020202020204" pitchFamily="34" charset="0"/>
                <a:ea typeface="Calibri"/>
                <a:cs typeface="Arial" panose="020B0604020202020204" pitchFamily="34" charset="0"/>
              </a:rPr>
              <a:t> la </a:t>
            </a:r>
            <a:r>
              <a:rPr lang="en-US" sz="1200" dirty="0" err="1">
                <a:latin typeface="Arial" panose="020B0604020202020204" pitchFamily="34" charset="0"/>
                <a:ea typeface="Calibri"/>
                <a:cs typeface="Arial" panose="020B0604020202020204" pitchFamily="34" charset="0"/>
              </a:rPr>
              <a:t>guía</a:t>
            </a:r>
            <a:r>
              <a:rPr lang="en-US" sz="1200" dirty="0">
                <a:latin typeface="Arial" panose="020B0604020202020204" pitchFamily="34" charset="0"/>
                <a:ea typeface="Calibri"/>
                <a:cs typeface="Arial" panose="020B0604020202020204" pitchFamily="34" charset="0"/>
              </a:rPr>
              <a:t> con Si </a:t>
            </a:r>
            <a:r>
              <a:rPr lang="en-US" sz="1200" dirty="0" err="1">
                <a:latin typeface="Arial" panose="020B0604020202020204" pitchFamily="34" charset="0"/>
                <a:ea typeface="Calibri"/>
                <a:cs typeface="Arial" panose="020B0604020202020204" pitchFamily="34" charset="0"/>
              </a:rPr>
              <a:t>vemos</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que</a:t>
            </a:r>
            <a:r>
              <a:rPr lang="en-US" sz="1200" dirty="0">
                <a:latin typeface="Arial" panose="020B0604020202020204" pitchFamily="34" charset="0"/>
                <a:ea typeface="Calibri"/>
                <a:cs typeface="Arial" panose="020B0604020202020204" pitchFamily="34" charset="0"/>
              </a:rPr>
              <a:t> la </a:t>
            </a:r>
            <a:r>
              <a:rPr lang="en-US" sz="1200" dirty="0" err="1">
                <a:latin typeface="Arial" panose="020B0604020202020204" pitchFamily="34" charset="0"/>
                <a:ea typeface="Calibri"/>
                <a:cs typeface="Arial" panose="020B0604020202020204" pitchFamily="34" charset="0"/>
              </a:rPr>
              <a:t>fracción</a:t>
            </a:r>
            <a:r>
              <a:rPr lang="en-US" sz="1200" dirty="0">
                <a:latin typeface="Arial" panose="020B0604020202020204" pitchFamily="34" charset="0"/>
                <a:ea typeface="Calibri"/>
                <a:cs typeface="Arial" panose="020B0604020202020204" pitchFamily="34" charset="0"/>
              </a:rPr>
              <a:t> de TE </a:t>
            </a:r>
            <a:r>
              <a:rPr lang="en-US" sz="1200" dirty="0" err="1">
                <a:latin typeface="Arial" panose="020B0604020202020204" pitchFamily="34" charset="0"/>
                <a:ea typeface="Calibri"/>
                <a:cs typeface="Arial" panose="020B0604020202020204" pitchFamily="34" charset="0"/>
              </a:rPr>
              <a:t>varía</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en</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los</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modos</a:t>
            </a:r>
            <a:r>
              <a:rPr lang="en-US" sz="1200" dirty="0">
                <a:latin typeface="Arial" panose="020B0604020202020204" pitchFamily="34" charset="0"/>
                <a:ea typeface="Calibri"/>
                <a:cs typeface="Arial" panose="020B0604020202020204" pitchFamily="34" charset="0"/>
              </a:rPr>
              <a:t> 1, 2 y 3 </a:t>
            </a:r>
            <a:r>
              <a:rPr lang="en-US" sz="1200" dirty="0" err="1">
                <a:latin typeface="Arial" panose="020B0604020202020204" pitchFamily="34" charset="0"/>
                <a:ea typeface="Calibri"/>
                <a:cs typeface="Arial" panose="020B0604020202020204" pitchFamily="34" charset="0"/>
              </a:rPr>
              <a:t>dándose</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el</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efecto</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conocido</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como</a:t>
            </a:r>
            <a:r>
              <a:rPr lang="en-US" sz="1200" dirty="0">
                <a:latin typeface="Arial" panose="020B0604020202020204" pitchFamily="34" charset="0"/>
                <a:ea typeface="Calibri"/>
                <a:cs typeface="Arial" panose="020B0604020202020204" pitchFamily="34" charset="0"/>
              </a:rPr>
              <a:t> </a:t>
            </a:r>
            <a:r>
              <a:rPr lang="en-US" sz="1200" dirty="0" err="1">
                <a:latin typeface="Arial" panose="020B0604020202020204" pitchFamily="34" charset="0"/>
                <a:ea typeface="Calibri"/>
                <a:cs typeface="Arial" panose="020B0604020202020204" pitchFamily="34" charset="0"/>
              </a:rPr>
              <a:t>hibridación</a:t>
            </a:r>
            <a:r>
              <a:rPr lang="en-US" sz="1200" dirty="0">
                <a:latin typeface="Arial" panose="020B0604020202020204" pitchFamily="34" charset="0"/>
                <a:ea typeface="Calibri"/>
                <a:cs typeface="Arial" panose="020B0604020202020204" pitchFamily="34" charset="0"/>
              </a:rPr>
              <a:t> de </a:t>
            </a:r>
            <a:r>
              <a:rPr lang="en-US" sz="1200" dirty="0" err="1">
                <a:latin typeface="Arial" panose="020B0604020202020204" pitchFamily="34" charset="0"/>
                <a:ea typeface="Calibri"/>
                <a:cs typeface="Arial" panose="020B0604020202020204" pitchFamily="34" charset="0"/>
              </a:rPr>
              <a:t>modos</a:t>
            </a:r>
            <a:r>
              <a:rPr lang="en-US" sz="1200" dirty="0">
                <a:latin typeface="Arial" panose="020B0604020202020204" pitchFamily="34" charset="0"/>
                <a:ea typeface="Calibri"/>
                <a:cs typeface="Arial" panose="020B0604020202020204" pitchFamily="34" charset="0"/>
              </a:rPr>
              <a:t>.</a:t>
            </a:r>
          </a:p>
        </p:txBody>
      </p:sp>
      <p:sp>
        <p:nvSpPr>
          <p:cNvPr id="7" name="Rectángulo 6">
            <a:extLst>
              <a:ext uri="{FF2B5EF4-FFF2-40B4-BE49-F238E27FC236}">
                <a16:creationId xmlns:a16="http://schemas.microsoft.com/office/drawing/2014/main" id="{96F94A88-0581-41AF-34F7-D85903436FFC}"/>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líneas&#10;&#10;El contenido generado por IA puede ser incorrecto.">
            <a:extLst>
              <a:ext uri="{FF2B5EF4-FFF2-40B4-BE49-F238E27FC236}">
                <a16:creationId xmlns:a16="http://schemas.microsoft.com/office/drawing/2014/main" id="{2B4B7768-ED9E-88F3-6C0F-86F6F102C073}"/>
              </a:ext>
            </a:extLst>
          </p:cNvPr>
          <p:cNvPicPr>
            <a:picLocks noChangeAspect="1"/>
          </p:cNvPicPr>
          <p:nvPr/>
        </p:nvPicPr>
        <p:blipFill>
          <a:blip r:embed="rId5"/>
          <a:stretch>
            <a:fillRect/>
          </a:stretch>
        </p:blipFill>
        <p:spPr>
          <a:xfrm>
            <a:off x="2327726" y="1418586"/>
            <a:ext cx="7536550" cy="3304323"/>
          </a:xfrm>
          <a:prstGeom prst="rect">
            <a:avLst/>
          </a:prstGeom>
        </p:spPr>
      </p:pic>
    </p:spTree>
    <p:extLst>
      <p:ext uri="{BB962C8B-B14F-4D97-AF65-F5344CB8AC3E}">
        <p14:creationId xmlns:p14="http://schemas.microsoft.com/office/powerpoint/2010/main" val="1172901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FF93B-EF18-4E19-2FFF-0712E602FE2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FCA022A-E8B6-6A5E-29D8-FAAF08A41760}"/>
              </a:ext>
            </a:extLst>
          </p:cNvPr>
          <p:cNvSpPr txBox="1">
            <a:spLocks noGrp="1"/>
          </p:cNvSpPr>
          <p:nvPr>
            <p:ph type="title"/>
          </p:nvPr>
        </p:nvSpPr>
        <p:spPr>
          <a:xfrm>
            <a:off x="685800" y="408883"/>
            <a:ext cx="10994410" cy="1949252"/>
          </a:xfrm>
          <a:prstGeom prst="rect">
            <a:avLst/>
          </a:prstGeom>
        </p:spPr>
        <p:txBody>
          <a:bodyPr vert="horz" wrap="square" lIns="0" tIns="12700" rIns="0" bIns="0" rtlCol="0" anchor="t">
            <a:spAutoFit/>
          </a:bodyPr>
          <a:lstStyle/>
          <a:p>
            <a:pPr algn="l"/>
            <a:r>
              <a:rPr lang="en-US" sz="2500" b="0">
                <a:ea typeface="Calibri"/>
              </a:rPr>
              <a:t>#Extra 3 Find the safe radius for this technology. Consider sweeping the radius in a 5um to 30um range. </a:t>
            </a:r>
            <a:endParaRPr lang="es-ES"/>
          </a:p>
          <a:p>
            <a:pPr algn="l"/>
            <a:endParaRPr lang="en-US" sz="2500" b="0" dirty="0">
              <a:ea typeface="Calibri"/>
            </a:endParaRPr>
          </a:p>
          <a:p>
            <a:pPr algn="l"/>
            <a:endParaRPr lang="en-US" sz="2500" b="0" dirty="0">
              <a:ea typeface="Calibri"/>
            </a:endParaRPr>
          </a:p>
          <a:p>
            <a:pPr marL="12700">
              <a:lnSpc>
                <a:spcPct val="100000"/>
              </a:lnSpc>
              <a:spcBef>
                <a:spcPts val="100"/>
              </a:spcBef>
            </a:pPr>
            <a:endParaRPr lang="en-US" sz="2500" dirty="0">
              <a:latin typeface="+mj-lt"/>
              <a:ea typeface="Calibri"/>
            </a:endParaRPr>
          </a:p>
        </p:txBody>
      </p:sp>
      <p:pic>
        <p:nvPicPr>
          <p:cNvPr id="83" name="Gráfico 82">
            <a:extLst>
              <a:ext uri="{FF2B5EF4-FFF2-40B4-BE49-F238E27FC236}">
                <a16:creationId xmlns:a16="http://schemas.microsoft.com/office/drawing/2014/main" id="{2F520192-9EA2-3A60-99C3-DE5F07606D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11610B6-8F2D-51B1-2576-513536FDD1A7}"/>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CF3254C7-8D0B-7070-2224-FABC4071FF9C}"/>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7DF7A90B-5FB9-6DC7-9643-EE27EF3F716E}"/>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dirty="0">
                <a:latin typeface="Arial"/>
                <a:cs typeface="Arial"/>
              </a:rPr>
              <a:t>Comment results, which is the safe radius?, consider safe means less than 0.1 dB/90º.</a:t>
            </a:r>
          </a:p>
          <a:p>
            <a:pPr algn="just"/>
            <a:endParaRPr lang="en-US" sz="1200" dirty="0">
              <a:latin typeface="Arial"/>
              <a:ea typeface="+mn-lt"/>
              <a:cs typeface="Arial"/>
            </a:endParaRPr>
          </a:p>
          <a:p>
            <a:pPr algn="just"/>
            <a:r>
              <a:rPr lang="en-US" sz="1200" dirty="0">
                <a:latin typeface="Arial"/>
                <a:cs typeface="Arial"/>
              </a:rPr>
              <a:t>En </a:t>
            </a:r>
            <a:r>
              <a:rPr lang="en-US" sz="1200" dirty="0" err="1">
                <a:latin typeface="Arial"/>
                <a:cs typeface="Arial"/>
              </a:rPr>
              <a:t>el</a:t>
            </a:r>
            <a:r>
              <a:rPr lang="en-US" sz="1200" dirty="0">
                <a:latin typeface="Arial"/>
                <a:cs typeface="Arial"/>
              </a:rPr>
              <a:t> </a:t>
            </a:r>
            <a:r>
              <a:rPr lang="en-US" sz="1200" dirty="0" err="1">
                <a:latin typeface="Arial"/>
                <a:cs typeface="Arial"/>
              </a:rPr>
              <a:t>caso</a:t>
            </a:r>
            <a:r>
              <a:rPr lang="en-US" sz="1200" dirty="0">
                <a:latin typeface="Arial"/>
                <a:cs typeface="Arial"/>
              </a:rPr>
              <a:t> de la </a:t>
            </a:r>
            <a:r>
              <a:rPr lang="en-US" sz="1200" dirty="0" err="1">
                <a:latin typeface="Arial"/>
                <a:cs typeface="Arial"/>
              </a:rPr>
              <a:t>guía</a:t>
            </a:r>
            <a:r>
              <a:rPr lang="en-US" sz="1200" dirty="0">
                <a:latin typeface="Arial"/>
                <a:cs typeface="Arial"/>
              </a:rPr>
              <a:t> con </a:t>
            </a:r>
            <a:r>
              <a:rPr lang="en-US" sz="1200" dirty="0" err="1">
                <a:latin typeface="Arial"/>
                <a:cs typeface="Arial"/>
              </a:rPr>
              <a:t>SiNx</a:t>
            </a:r>
            <a:r>
              <a:rPr lang="en-US" sz="1200" dirty="0">
                <a:latin typeface="Arial"/>
                <a:cs typeface="Arial"/>
              </a:rPr>
              <a:t>, </a:t>
            </a:r>
            <a:r>
              <a:rPr lang="en-US" sz="1200" dirty="0" err="1">
                <a:latin typeface="Arial"/>
                <a:cs typeface="Arial"/>
              </a:rPr>
              <a:t>el</a:t>
            </a:r>
            <a:r>
              <a:rPr lang="en-US" sz="1200" dirty="0">
                <a:latin typeface="Arial"/>
                <a:cs typeface="Arial"/>
              </a:rPr>
              <a:t> radio </a:t>
            </a:r>
            <a:r>
              <a:rPr lang="en-US" sz="1200" dirty="0" err="1">
                <a:latin typeface="Arial"/>
                <a:cs typeface="Arial"/>
              </a:rPr>
              <a:t>seguro</a:t>
            </a:r>
            <a:r>
              <a:rPr lang="en-US" sz="1200" dirty="0">
                <a:latin typeface="Arial"/>
                <a:cs typeface="Arial"/>
              </a:rPr>
              <a:t> era de 30 um. </a:t>
            </a:r>
            <a:r>
              <a:rPr lang="en-US" sz="1200" dirty="0" err="1">
                <a:latin typeface="Arial"/>
                <a:cs typeface="Arial"/>
              </a:rPr>
              <a:t>Mientras</a:t>
            </a:r>
            <a:r>
              <a:rPr lang="en-US" sz="1200" dirty="0">
                <a:latin typeface="Arial"/>
                <a:cs typeface="Arial"/>
              </a:rPr>
              <a:t> </a:t>
            </a:r>
            <a:r>
              <a:rPr lang="en-US" sz="1200" dirty="0" err="1">
                <a:latin typeface="Arial"/>
                <a:cs typeface="Arial"/>
              </a:rPr>
              <a:t>que</a:t>
            </a:r>
            <a:r>
              <a:rPr lang="en-US" sz="1200" dirty="0">
                <a:latin typeface="Arial"/>
                <a:cs typeface="Arial"/>
              </a:rPr>
              <a:t> con Si se </a:t>
            </a:r>
            <a:r>
              <a:rPr lang="en-US" sz="1200" dirty="0" err="1">
                <a:latin typeface="Arial"/>
                <a:cs typeface="Arial"/>
              </a:rPr>
              <a:t>observa</a:t>
            </a:r>
            <a:r>
              <a:rPr lang="en-US" sz="1200" dirty="0">
                <a:latin typeface="Arial"/>
                <a:cs typeface="Arial"/>
              </a:rPr>
              <a:t> </a:t>
            </a:r>
            <a:r>
              <a:rPr lang="en-US" sz="1200" dirty="0" err="1">
                <a:latin typeface="Arial"/>
                <a:cs typeface="Arial"/>
              </a:rPr>
              <a:t>como</a:t>
            </a:r>
            <a:r>
              <a:rPr lang="en-US" sz="1200" dirty="0">
                <a:latin typeface="Arial"/>
                <a:cs typeface="Arial"/>
              </a:rPr>
              <a:t> </a:t>
            </a:r>
            <a:r>
              <a:rPr lang="en-US" sz="1200" dirty="0" err="1">
                <a:latin typeface="Arial"/>
                <a:cs typeface="Arial"/>
              </a:rPr>
              <a:t>todos</a:t>
            </a:r>
            <a:r>
              <a:rPr lang="en-US" sz="1200" dirty="0">
                <a:latin typeface="Arial"/>
                <a:cs typeface="Arial"/>
              </a:rPr>
              <a:t> </a:t>
            </a:r>
            <a:r>
              <a:rPr lang="en-US" sz="1200" dirty="0" err="1">
                <a:latin typeface="Arial"/>
                <a:cs typeface="Arial"/>
              </a:rPr>
              <a:t>los</a:t>
            </a:r>
            <a:r>
              <a:rPr lang="en-US" sz="1200" dirty="0">
                <a:latin typeface="Arial"/>
                <a:cs typeface="Arial"/>
              </a:rPr>
              <a:t> puntos </a:t>
            </a:r>
            <a:r>
              <a:rPr lang="en-US" sz="1200" dirty="0" err="1">
                <a:latin typeface="Arial"/>
                <a:cs typeface="Arial"/>
              </a:rPr>
              <a:t>están</a:t>
            </a:r>
            <a:r>
              <a:rPr lang="en-US" sz="1200" dirty="0">
                <a:latin typeface="Arial"/>
                <a:cs typeface="Arial"/>
              </a:rPr>
              <a:t> </a:t>
            </a:r>
            <a:r>
              <a:rPr lang="en-US" sz="1200" dirty="0" err="1">
                <a:latin typeface="Arial"/>
                <a:cs typeface="Arial"/>
              </a:rPr>
              <a:t>muy</a:t>
            </a:r>
            <a:r>
              <a:rPr lang="en-US" sz="1200" dirty="0">
                <a:latin typeface="Arial"/>
                <a:cs typeface="Arial"/>
              </a:rPr>
              <a:t> </a:t>
            </a:r>
            <a:r>
              <a:rPr lang="en-US" sz="1200" dirty="0" err="1">
                <a:latin typeface="Arial"/>
                <a:cs typeface="Arial"/>
              </a:rPr>
              <a:t>por</a:t>
            </a:r>
            <a:r>
              <a:rPr lang="en-US" sz="1200" dirty="0">
                <a:latin typeface="Arial"/>
                <a:cs typeface="Arial"/>
              </a:rPr>
              <a:t> </a:t>
            </a:r>
            <a:r>
              <a:rPr lang="en-US" sz="1200" dirty="0" err="1">
                <a:latin typeface="Arial"/>
                <a:cs typeface="Arial"/>
              </a:rPr>
              <a:t>debajo</a:t>
            </a:r>
            <a:r>
              <a:rPr lang="en-US" sz="1200" dirty="0">
                <a:latin typeface="Arial"/>
                <a:cs typeface="Arial"/>
              </a:rPr>
              <a:t> de </a:t>
            </a:r>
            <a:r>
              <a:rPr lang="en-US" sz="1200" dirty="0" err="1">
                <a:latin typeface="Arial"/>
                <a:cs typeface="Arial"/>
              </a:rPr>
              <a:t>los</a:t>
            </a:r>
            <a:r>
              <a:rPr lang="en-US" sz="1200" dirty="0">
                <a:latin typeface="Arial"/>
                <a:cs typeface="Arial"/>
              </a:rPr>
              <a:t> 0.1 dB/90º de  </a:t>
            </a:r>
            <a:r>
              <a:rPr lang="en-US" sz="1200" dirty="0" err="1">
                <a:latin typeface="Arial"/>
                <a:cs typeface="Arial"/>
              </a:rPr>
              <a:t>perdidas</a:t>
            </a:r>
            <a:r>
              <a:rPr lang="en-US" sz="1200" dirty="0">
                <a:latin typeface="Arial"/>
                <a:cs typeface="Arial"/>
              </a:rPr>
              <a:t>. Si bien </a:t>
            </a:r>
            <a:r>
              <a:rPr lang="en-US" sz="1200" dirty="0" err="1">
                <a:latin typeface="Arial"/>
                <a:cs typeface="Arial"/>
              </a:rPr>
              <a:t>todos</a:t>
            </a:r>
            <a:r>
              <a:rPr lang="en-US" sz="1200" dirty="0">
                <a:latin typeface="Arial"/>
                <a:cs typeface="Arial"/>
              </a:rPr>
              <a:t> </a:t>
            </a:r>
            <a:r>
              <a:rPr lang="en-US" sz="1200" dirty="0" err="1">
                <a:latin typeface="Arial"/>
                <a:cs typeface="Arial"/>
              </a:rPr>
              <a:t>los</a:t>
            </a:r>
            <a:r>
              <a:rPr lang="en-US" sz="1200" dirty="0">
                <a:latin typeface="Arial"/>
                <a:cs typeface="Arial"/>
              </a:rPr>
              <a:t> </a:t>
            </a:r>
            <a:r>
              <a:rPr lang="en-US" sz="1200" dirty="0" err="1">
                <a:latin typeface="Arial"/>
                <a:cs typeface="Arial"/>
              </a:rPr>
              <a:t>valores</a:t>
            </a:r>
            <a:r>
              <a:rPr lang="en-US" sz="1200" dirty="0">
                <a:latin typeface="Arial"/>
                <a:cs typeface="Arial"/>
              </a:rPr>
              <a:t> se </a:t>
            </a:r>
            <a:r>
              <a:rPr lang="en-US" sz="1200" dirty="0" err="1">
                <a:latin typeface="Arial"/>
                <a:cs typeface="Arial"/>
              </a:rPr>
              <a:t>encuentran</a:t>
            </a:r>
            <a:r>
              <a:rPr lang="en-US" sz="1200" dirty="0">
                <a:latin typeface="Arial"/>
                <a:cs typeface="Arial"/>
              </a:rPr>
              <a:t> </a:t>
            </a:r>
            <a:r>
              <a:rPr lang="en-US" sz="1200" dirty="0" err="1">
                <a:latin typeface="Arial"/>
                <a:cs typeface="Arial"/>
              </a:rPr>
              <a:t>por</a:t>
            </a:r>
            <a:r>
              <a:rPr lang="en-US" sz="1200" dirty="0">
                <a:latin typeface="Arial"/>
                <a:cs typeface="Arial"/>
              </a:rPr>
              <a:t> </a:t>
            </a:r>
            <a:r>
              <a:rPr lang="en-US" sz="1200" dirty="0" err="1">
                <a:latin typeface="Arial"/>
                <a:cs typeface="Arial"/>
              </a:rPr>
              <a:t>debajo</a:t>
            </a:r>
            <a:r>
              <a:rPr lang="en-US" sz="1200" dirty="0">
                <a:latin typeface="Arial"/>
                <a:cs typeface="Arial"/>
              </a:rPr>
              <a:t> del valor </a:t>
            </a:r>
            <a:r>
              <a:rPr lang="en-US" sz="1200" dirty="0" err="1">
                <a:latin typeface="Arial"/>
                <a:cs typeface="Arial"/>
              </a:rPr>
              <a:t>objetivo</a:t>
            </a:r>
            <a:r>
              <a:rPr lang="en-US" sz="1200" dirty="0">
                <a:latin typeface="Arial"/>
                <a:cs typeface="Arial"/>
              </a:rPr>
              <a:t>, es </a:t>
            </a:r>
            <a:r>
              <a:rPr lang="en-US" sz="1200" dirty="0" err="1">
                <a:latin typeface="Arial"/>
                <a:cs typeface="Arial"/>
              </a:rPr>
              <a:t>decir</a:t>
            </a:r>
            <a:r>
              <a:rPr lang="en-US" sz="1200" dirty="0">
                <a:latin typeface="Arial"/>
                <a:cs typeface="Arial"/>
              </a:rPr>
              <a:t>, </a:t>
            </a:r>
            <a:r>
              <a:rPr lang="en-US" sz="1200" dirty="0" err="1">
                <a:latin typeface="Arial"/>
                <a:cs typeface="Arial"/>
              </a:rPr>
              <a:t>todos</a:t>
            </a:r>
            <a:r>
              <a:rPr lang="en-US" sz="1200" dirty="0">
                <a:latin typeface="Arial"/>
                <a:cs typeface="Arial"/>
              </a:rPr>
              <a:t> </a:t>
            </a:r>
            <a:r>
              <a:rPr lang="en-US" sz="1200" dirty="0" err="1">
                <a:latin typeface="Arial"/>
                <a:cs typeface="Arial"/>
              </a:rPr>
              <a:t>los</a:t>
            </a:r>
            <a:r>
              <a:rPr lang="en-US" sz="1200" dirty="0">
                <a:latin typeface="Arial"/>
                <a:cs typeface="Arial"/>
              </a:rPr>
              <a:t> </a:t>
            </a:r>
            <a:r>
              <a:rPr lang="en-US" sz="1200" dirty="0" err="1">
                <a:latin typeface="Arial"/>
                <a:cs typeface="Arial"/>
              </a:rPr>
              <a:t>valores</a:t>
            </a:r>
            <a:r>
              <a:rPr lang="en-US" sz="1200" dirty="0">
                <a:latin typeface="Arial"/>
                <a:cs typeface="Arial"/>
              </a:rPr>
              <a:t> dan </a:t>
            </a:r>
            <a:r>
              <a:rPr lang="en-US" sz="1200" dirty="0" err="1">
                <a:latin typeface="Arial"/>
                <a:cs typeface="Arial"/>
              </a:rPr>
              <a:t>unas</a:t>
            </a:r>
            <a:r>
              <a:rPr lang="en-US" sz="1200" dirty="0">
                <a:latin typeface="Arial"/>
                <a:cs typeface="Arial"/>
              </a:rPr>
              <a:t> </a:t>
            </a:r>
            <a:r>
              <a:rPr lang="en-US" sz="1200" dirty="0" err="1">
                <a:latin typeface="Arial"/>
                <a:cs typeface="Arial"/>
              </a:rPr>
              <a:t>pérdidas</a:t>
            </a:r>
            <a:r>
              <a:rPr lang="en-US" sz="1200" dirty="0">
                <a:latin typeface="Arial"/>
                <a:cs typeface="Arial"/>
              </a:rPr>
              <a:t> </a:t>
            </a:r>
            <a:r>
              <a:rPr lang="en-US" sz="1200" dirty="0" err="1">
                <a:latin typeface="Arial"/>
                <a:cs typeface="Arial"/>
              </a:rPr>
              <a:t>menores</a:t>
            </a:r>
            <a:r>
              <a:rPr lang="en-US" sz="1200" dirty="0">
                <a:latin typeface="Arial"/>
                <a:cs typeface="Arial"/>
              </a:rPr>
              <a:t> a 0.1 dB/90º, </a:t>
            </a:r>
            <a:r>
              <a:rPr lang="en-US" sz="1200" dirty="0" err="1">
                <a:latin typeface="Arial"/>
                <a:cs typeface="Arial"/>
              </a:rPr>
              <a:t>como</a:t>
            </a:r>
            <a:r>
              <a:rPr lang="en-US" sz="1200" dirty="0">
                <a:latin typeface="Arial"/>
                <a:cs typeface="Arial"/>
              </a:rPr>
              <a:t> </a:t>
            </a:r>
            <a:r>
              <a:rPr lang="en-US" sz="1200" dirty="0" err="1">
                <a:latin typeface="Arial"/>
                <a:cs typeface="Arial"/>
              </a:rPr>
              <a:t>mejor</a:t>
            </a:r>
            <a:r>
              <a:rPr lang="en-US" sz="1200" dirty="0">
                <a:latin typeface="Arial"/>
                <a:cs typeface="Arial"/>
              </a:rPr>
              <a:t> valor </a:t>
            </a:r>
            <a:r>
              <a:rPr lang="en-US" sz="1200" dirty="0" err="1">
                <a:latin typeface="Arial"/>
                <a:cs typeface="Arial"/>
              </a:rPr>
              <a:t>elegiríamos</a:t>
            </a:r>
            <a:r>
              <a:rPr lang="en-US" sz="1200" dirty="0">
                <a:latin typeface="Arial"/>
                <a:cs typeface="Arial"/>
              </a:rPr>
              <a:t> </a:t>
            </a:r>
            <a:r>
              <a:rPr lang="en-US" sz="1200" dirty="0" err="1">
                <a:latin typeface="Arial"/>
                <a:cs typeface="Arial"/>
              </a:rPr>
              <a:t>unos</a:t>
            </a:r>
            <a:r>
              <a:rPr lang="en-US" sz="1200" dirty="0">
                <a:latin typeface="Arial"/>
                <a:cs typeface="Arial"/>
              </a:rPr>
              <a:t> 14-15 um </a:t>
            </a:r>
            <a:r>
              <a:rPr lang="en-US" sz="1200" dirty="0" err="1">
                <a:latin typeface="Arial"/>
                <a:cs typeface="Arial"/>
              </a:rPr>
              <a:t>ya</a:t>
            </a:r>
            <a:r>
              <a:rPr lang="en-US" sz="1200" dirty="0">
                <a:latin typeface="Arial"/>
                <a:cs typeface="Arial"/>
              </a:rPr>
              <a:t> </a:t>
            </a:r>
            <a:r>
              <a:rPr lang="en-US" sz="1200" dirty="0" err="1">
                <a:latin typeface="Arial"/>
                <a:cs typeface="Arial"/>
              </a:rPr>
              <a:t>que</a:t>
            </a:r>
            <a:r>
              <a:rPr lang="en-US" sz="1200" dirty="0">
                <a:latin typeface="Arial"/>
                <a:cs typeface="Arial"/>
              </a:rPr>
              <a:t> es </a:t>
            </a:r>
            <a:r>
              <a:rPr lang="en-US" sz="1200" dirty="0" err="1">
                <a:latin typeface="Arial"/>
                <a:cs typeface="Arial"/>
              </a:rPr>
              <a:t>el</a:t>
            </a:r>
            <a:r>
              <a:rPr lang="en-US" sz="1200" dirty="0">
                <a:latin typeface="Arial"/>
                <a:cs typeface="Arial"/>
              </a:rPr>
              <a:t> radio para </a:t>
            </a:r>
            <a:r>
              <a:rPr lang="en-US" sz="1200" dirty="0" err="1">
                <a:latin typeface="Arial"/>
                <a:cs typeface="Arial"/>
              </a:rPr>
              <a:t>el</a:t>
            </a:r>
            <a:r>
              <a:rPr lang="en-US" sz="1200" dirty="0">
                <a:latin typeface="Arial"/>
                <a:cs typeface="Arial"/>
              </a:rPr>
              <a:t> </a:t>
            </a:r>
            <a:r>
              <a:rPr lang="en-US" sz="1200" dirty="0" err="1">
                <a:latin typeface="Arial"/>
                <a:cs typeface="Arial"/>
              </a:rPr>
              <a:t>cual</a:t>
            </a:r>
            <a:r>
              <a:rPr lang="en-US" sz="1200" dirty="0">
                <a:latin typeface="Arial"/>
                <a:cs typeface="Arial"/>
              </a:rPr>
              <a:t> las </a:t>
            </a:r>
            <a:r>
              <a:rPr lang="en-US" sz="1200" dirty="0" err="1">
                <a:latin typeface="Arial"/>
                <a:cs typeface="Arial"/>
              </a:rPr>
              <a:t>pérdidas</a:t>
            </a:r>
            <a:r>
              <a:rPr lang="en-US" sz="1200" dirty="0">
                <a:latin typeface="Arial"/>
                <a:cs typeface="Arial"/>
              </a:rPr>
              <a:t> </a:t>
            </a:r>
            <a:r>
              <a:rPr lang="en-US" sz="1200" dirty="0" err="1">
                <a:latin typeface="Arial"/>
                <a:cs typeface="Arial"/>
              </a:rPr>
              <a:t>totales</a:t>
            </a:r>
            <a:r>
              <a:rPr lang="en-US" sz="1200" dirty="0">
                <a:latin typeface="Arial"/>
                <a:cs typeface="Arial"/>
              </a:rPr>
              <a:t> son </a:t>
            </a:r>
            <a:r>
              <a:rPr lang="en-US" sz="1200">
                <a:latin typeface="Arial"/>
                <a:cs typeface="Arial"/>
              </a:rPr>
              <a:t>menores</a:t>
            </a:r>
            <a:endParaRPr lang="en-US" sz="1200" dirty="0">
              <a:latin typeface="Arial"/>
              <a:ea typeface="Calibri"/>
              <a:cs typeface="Arial"/>
            </a:endParaRPr>
          </a:p>
          <a:p>
            <a:pPr algn="just"/>
            <a:endParaRPr lang="en-US" sz="1200" dirty="0">
              <a:latin typeface="Arial"/>
              <a:cs typeface="Arial"/>
            </a:endParaRPr>
          </a:p>
          <a:p>
            <a:pPr algn="just"/>
            <a:endParaRPr lang="en-US" sz="1200" dirty="0">
              <a:latin typeface="Arial"/>
              <a:cs typeface="Arial"/>
            </a:endParaRPr>
          </a:p>
          <a:p>
            <a:pPr algn="just"/>
            <a:endParaRPr lang="en-US" sz="1200" dirty="0">
              <a:latin typeface="Arial"/>
              <a:cs typeface="Arial"/>
            </a:endParaRPr>
          </a:p>
        </p:txBody>
      </p:sp>
      <p:sp>
        <p:nvSpPr>
          <p:cNvPr id="7" name="Rectángulo 6">
            <a:extLst>
              <a:ext uri="{FF2B5EF4-FFF2-40B4-BE49-F238E27FC236}">
                <a16:creationId xmlns:a16="http://schemas.microsoft.com/office/drawing/2014/main" id="{CA70B571-6AF2-A0BC-5A9F-FE0FE7A9FAC8}"/>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Gráfico, Gráfico de dispersión&#10;&#10;El contenido generado por IA puede ser incorrecto.">
            <a:extLst>
              <a:ext uri="{FF2B5EF4-FFF2-40B4-BE49-F238E27FC236}">
                <a16:creationId xmlns:a16="http://schemas.microsoft.com/office/drawing/2014/main" id="{DEB75A88-BA27-FCAF-B4C5-C9458DB2E588}"/>
              </a:ext>
            </a:extLst>
          </p:cNvPr>
          <p:cNvPicPr>
            <a:picLocks noChangeAspect="1"/>
          </p:cNvPicPr>
          <p:nvPr/>
        </p:nvPicPr>
        <p:blipFill>
          <a:blip r:embed="rId5"/>
          <a:stretch>
            <a:fillRect/>
          </a:stretch>
        </p:blipFill>
        <p:spPr>
          <a:xfrm>
            <a:off x="2655058" y="1421285"/>
            <a:ext cx="6461078" cy="3298921"/>
          </a:xfrm>
          <a:prstGeom prst="rect">
            <a:avLst/>
          </a:prstGeom>
        </p:spPr>
      </p:pic>
    </p:spTree>
    <p:extLst>
      <p:ext uri="{BB962C8B-B14F-4D97-AF65-F5344CB8AC3E}">
        <p14:creationId xmlns:p14="http://schemas.microsoft.com/office/powerpoint/2010/main" val="765914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2287</TotalTime>
  <Words>3321</Words>
  <Application>Microsoft Office PowerPoint</Application>
  <PresentationFormat>Panorámica</PresentationFormat>
  <Paragraphs>237</Paragraphs>
  <Slides>20</Slides>
  <Notes>17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20</vt:i4>
      </vt:variant>
    </vt:vector>
  </HeadingPairs>
  <TitlesOfParts>
    <vt:vector size="28"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1.1.1 Crystalline Silicon </vt:lpstr>
      <vt:lpstr>1.1.2 Silicon Nitride </vt:lpstr>
      <vt:lpstr>1.1.3 Silicon Dioxide </vt:lpstr>
      <vt:lpstr>1.2 Cross – Section Definition </vt:lpstr>
      <vt:lpstr>1.3.1 Numerical Results </vt:lpstr>
      <vt:lpstr>1.3.4 Plots </vt:lpstr>
      <vt:lpstr>1.3.4 Plots </vt:lpstr>
      <vt:lpstr>Learning outcome #2 – Wavelength behavior Wavelength 1.5-1.6 µm (step 0.01 µm) – width 1.2 µm</vt:lpstr>
      <vt:lpstr>Learning outcome #3 – Width dependence Width 0.6 - 1.6 µm (step 0.1 µm) – Wavelength 1.55 µm </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 Find the compact models of the following waveguides:  Deep waveguide, h=300nm, w=1.2um   - Shallow waveguide, core h=300nm, slab h=150 nm, w = 1.2um     Deep      Shallow</vt:lpstr>
      <vt:lpstr>Learning outcome #5 – Bend waveguide radius vs. loss – deep Find  neff_TE0 for wvl 1.55 µm, width 1.2 µm for R=25,50,75,100, 125,150 µm </vt:lpstr>
      <vt:lpstr>EXTRA 1. Repeat the LO.2. wavelength behavior simulations, considering the updated materials and dimensions.  </vt:lpstr>
      <vt:lpstr># Extra 2. Repeat the LO.3. width dependence analysis, now sweeping in a 300nm - 1um range.   </vt:lpstr>
      <vt:lpstr>#Extra 3 Find the safe radius for this technology. Consider sweeping the radius in a 5um to 30um range.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FERRAN G</cp:lastModifiedBy>
  <cp:revision>261</cp:revision>
  <cp:lastPrinted>2026-02-18T17:26:04Z</cp:lastPrinted>
  <dcterms:created xsi:type="dcterms:W3CDTF">2025-01-27T02:46:57Z</dcterms:created>
  <dcterms:modified xsi:type="dcterms:W3CDTF">2026-03-14T15:17:22Z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